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4"/>
  </p:handoutMasterIdLst>
  <p:sldIdLst>
    <p:sldId id="256" r:id="rId2"/>
    <p:sldId id="259" r:id="rId3"/>
    <p:sldId id="261" r:id="rId4"/>
    <p:sldId id="257" r:id="rId5"/>
    <p:sldId id="262" r:id="rId6"/>
    <p:sldId id="263"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E4702D-106D-44BB-BE13-A7A6DF9D3B3A}" v="38" dt="2026-04-19T19:01:45.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98" autoAdjust="0"/>
  </p:normalViewPr>
  <p:slideViewPr>
    <p:cSldViewPr>
      <p:cViewPr varScale="1">
        <p:scale>
          <a:sx n="89" d="100"/>
          <a:sy n="89" d="100"/>
        </p:scale>
        <p:origin x="1282" y="86"/>
      </p:cViewPr>
      <p:guideLst>
        <p:guide orient="horz" pos="2160"/>
        <p:guide pos="2880"/>
      </p:guideLst>
    </p:cSldViewPr>
  </p:slideViewPr>
  <p:notesTextViewPr>
    <p:cViewPr>
      <p:scale>
        <a:sx n="1" d="1"/>
        <a:sy n="1" d="1"/>
      </p:scale>
      <p:origin x="0" y="0"/>
    </p:cViewPr>
  </p:notesTextViewPr>
  <p:notesViewPr>
    <p:cSldViewPr>
      <p:cViewPr varScale="1">
        <p:scale>
          <a:sx n="98" d="100"/>
          <a:sy n="98" d="100"/>
        </p:scale>
        <p:origin x="-252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etsi Khotlele" userId="ba5636ae-54db-46e7-8841-7cf835d82e2d" providerId="ADAL" clId="{6D838E9D-1C44-4D75-8477-50F960722861}"/>
    <pc:docChg chg="undo custSel addSld delSld modSld sldOrd">
      <pc:chgData name="Kometsi Khotlele" userId="ba5636ae-54db-46e7-8841-7cf835d82e2d" providerId="ADAL" clId="{6D838E9D-1C44-4D75-8477-50F960722861}" dt="2026-04-19T19:05:18.945" v="3157" actId="2696"/>
      <pc:docMkLst>
        <pc:docMk/>
      </pc:docMkLst>
      <pc:sldChg chg="addSp modSp mod">
        <pc:chgData name="Kometsi Khotlele" userId="ba5636ae-54db-46e7-8841-7cf835d82e2d" providerId="ADAL" clId="{6D838E9D-1C44-4D75-8477-50F960722861}" dt="2026-04-19T18:13:26.186" v="62"/>
        <pc:sldMkLst>
          <pc:docMk/>
          <pc:sldMk cId="1014858963" sldId="257"/>
        </pc:sldMkLst>
        <pc:spChg chg="mod">
          <ac:chgData name="Kometsi Khotlele" userId="ba5636ae-54db-46e7-8841-7cf835d82e2d" providerId="ADAL" clId="{6D838E9D-1C44-4D75-8477-50F960722861}" dt="2026-04-19T17:56:41.533" v="36" actId="27636"/>
          <ac:spMkLst>
            <pc:docMk/>
            <pc:sldMk cId="1014858963" sldId="257"/>
            <ac:spMk id="2" creationId="{00000000-0000-0000-0000-000000000000}"/>
          </ac:spMkLst>
        </pc:spChg>
        <pc:spChg chg="mod">
          <ac:chgData name="Kometsi Khotlele" userId="ba5636ae-54db-46e7-8841-7cf835d82e2d" providerId="ADAL" clId="{6D838E9D-1C44-4D75-8477-50F960722861}" dt="2026-04-19T18:13:22.757" v="61" actId="6549"/>
          <ac:spMkLst>
            <pc:docMk/>
            <pc:sldMk cId="1014858963" sldId="257"/>
            <ac:spMk id="3" creationId="{00000000-0000-0000-0000-000000000000}"/>
          </ac:spMkLst>
        </pc:spChg>
        <pc:spChg chg="add">
          <ac:chgData name="Kometsi Khotlele" userId="ba5636ae-54db-46e7-8841-7cf835d82e2d" providerId="ADAL" clId="{6D838E9D-1C44-4D75-8477-50F960722861}" dt="2026-04-19T18:13:26.186" v="62"/>
          <ac:spMkLst>
            <pc:docMk/>
            <pc:sldMk cId="1014858963" sldId="257"/>
            <ac:spMk id="5" creationId="{B92D59DD-196D-8D12-B5ED-ACAA002D771E}"/>
          </ac:spMkLst>
        </pc:spChg>
        <pc:graphicFrameChg chg="add mod">
          <ac:chgData name="Kometsi Khotlele" userId="ba5636ae-54db-46e7-8841-7cf835d82e2d" providerId="ADAL" clId="{6D838E9D-1C44-4D75-8477-50F960722861}" dt="2026-04-19T18:11:37.765" v="49" actId="14100"/>
          <ac:graphicFrameMkLst>
            <pc:docMk/>
            <pc:sldMk cId="1014858963" sldId="257"/>
            <ac:graphicFrameMk id="4" creationId="{80786B56-4557-8D66-F1FD-BA9D3F09DC08}"/>
          </ac:graphicFrameMkLst>
        </pc:graphicFrameChg>
      </pc:sldChg>
      <pc:sldChg chg="del">
        <pc:chgData name="Kometsi Khotlele" userId="ba5636ae-54db-46e7-8841-7cf835d82e2d" providerId="ADAL" clId="{6D838E9D-1C44-4D75-8477-50F960722861}" dt="2026-04-19T19:05:18.945" v="3157" actId="2696"/>
        <pc:sldMkLst>
          <pc:docMk/>
          <pc:sldMk cId="1225807195" sldId="258"/>
        </pc:sldMkLst>
      </pc:sldChg>
      <pc:sldChg chg="modSp mod">
        <pc:chgData name="Kometsi Khotlele" userId="ba5636ae-54db-46e7-8841-7cf835d82e2d" providerId="ADAL" clId="{6D838E9D-1C44-4D75-8477-50F960722861}" dt="2026-04-19T17:47:45.957" v="24" actId="404"/>
        <pc:sldMkLst>
          <pc:docMk/>
          <pc:sldMk cId="2455981459" sldId="259"/>
        </pc:sldMkLst>
        <pc:spChg chg="mod">
          <ac:chgData name="Kometsi Khotlele" userId="ba5636ae-54db-46e7-8841-7cf835d82e2d" providerId="ADAL" clId="{6D838E9D-1C44-4D75-8477-50F960722861}" dt="2026-04-19T17:47:45.957" v="24" actId="404"/>
          <ac:spMkLst>
            <pc:docMk/>
            <pc:sldMk cId="2455981459" sldId="259"/>
            <ac:spMk id="3" creationId="{F9C6BE2F-59A1-013C-7D41-04B35D77337B}"/>
          </ac:spMkLst>
        </pc:spChg>
      </pc:sldChg>
      <pc:sldChg chg="addSp modSp del mod ord">
        <pc:chgData name="Kometsi Khotlele" userId="ba5636ae-54db-46e7-8841-7cf835d82e2d" providerId="ADAL" clId="{6D838E9D-1C44-4D75-8477-50F960722861}" dt="2026-04-19T18:31:44.409" v="895" actId="2696"/>
        <pc:sldMkLst>
          <pc:docMk/>
          <pc:sldMk cId="3164179526" sldId="260"/>
        </pc:sldMkLst>
        <pc:spChg chg="mod">
          <ac:chgData name="Kometsi Khotlele" userId="ba5636ae-54db-46e7-8841-7cf835d82e2d" providerId="ADAL" clId="{6D838E9D-1C44-4D75-8477-50F960722861}" dt="2026-04-19T17:47:10.281" v="20" actId="14100"/>
          <ac:spMkLst>
            <pc:docMk/>
            <pc:sldMk cId="3164179526" sldId="260"/>
            <ac:spMk id="3" creationId="{61A12813-8D3D-8EB3-FDFB-0BD85D9F1A5E}"/>
          </ac:spMkLst>
        </pc:spChg>
        <pc:graphicFrameChg chg="add mod">
          <ac:chgData name="Kometsi Khotlele" userId="ba5636ae-54db-46e7-8841-7cf835d82e2d" providerId="ADAL" clId="{6D838E9D-1C44-4D75-8477-50F960722861}" dt="2026-04-19T18:12:23.257" v="55" actId="1076"/>
          <ac:graphicFrameMkLst>
            <pc:docMk/>
            <pc:sldMk cId="3164179526" sldId="260"/>
            <ac:graphicFrameMk id="4" creationId="{77691FA4-FFB3-4D0C-BA54-CDF6E0E3DF36}"/>
          </ac:graphicFrameMkLst>
        </pc:graphicFrameChg>
      </pc:sldChg>
      <pc:sldChg chg="addSp delSp modSp add mod ord">
        <pc:chgData name="Kometsi Khotlele" userId="ba5636ae-54db-46e7-8841-7cf835d82e2d" providerId="ADAL" clId="{6D838E9D-1C44-4D75-8477-50F960722861}" dt="2026-04-19T18:32:29.155" v="917" actId="6549"/>
        <pc:sldMkLst>
          <pc:docMk/>
          <pc:sldMk cId="2048806528" sldId="261"/>
        </pc:sldMkLst>
        <pc:spChg chg="mod">
          <ac:chgData name="Kometsi Khotlele" userId="ba5636ae-54db-46e7-8841-7cf835d82e2d" providerId="ADAL" clId="{6D838E9D-1C44-4D75-8477-50F960722861}" dt="2026-04-19T18:31:23.326" v="894" actId="20577"/>
          <ac:spMkLst>
            <pc:docMk/>
            <pc:sldMk cId="2048806528" sldId="261"/>
            <ac:spMk id="2" creationId="{F50F5B2C-2E20-D0B8-5A6E-E1D89EDAE783}"/>
          </ac:spMkLst>
        </pc:spChg>
        <pc:spChg chg="mod">
          <ac:chgData name="Kometsi Khotlele" userId="ba5636ae-54db-46e7-8841-7cf835d82e2d" providerId="ADAL" clId="{6D838E9D-1C44-4D75-8477-50F960722861}" dt="2026-04-19T18:32:29.155" v="917" actId="6549"/>
          <ac:spMkLst>
            <pc:docMk/>
            <pc:sldMk cId="2048806528" sldId="261"/>
            <ac:spMk id="3" creationId="{B74281E8-D47B-AE25-94A9-5B289DF5F00D}"/>
          </ac:spMkLst>
        </pc:spChg>
        <pc:graphicFrameChg chg="del">
          <ac:chgData name="Kometsi Khotlele" userId="ba5636ae-54db-46e7-8841-7cf835d82e2d" providerId="ADAL" clId="{6D838E9D-1C44-4D75-8477-50F960722861}" dt="2026-04-19T18:16:05.579" v="102" actId="478"/>
          <ac:graphicFrameMkLst>
            <pc:docMk/>
            <pc:sldMk cId="2048806528" sldId="261"/>
            <ac:graphicFrameMk id="4" creationId="{573D9732-8BCE-E680-DC2A-81586E10748F}"/>
          </ac:graphicFrameMkLst>
        </pc:graphicFrameChg>
        <pc:graphicFrameChg chg="add del mod">
          <ac:chgData name="Kometsi Khotlele" userId="ba5636ae-54db-46e7-8841-7cf835d82e2d" providerId="ADAL" clId="{6D838E9D-1C44-4D75-8477-50F960722861}" dt="2026-04-19T18:19:22.398" v="117" actId="478"/>
          <ac:graphicFrameMkLst>
            <pc:docMk/>
            <pc:sldMk cId="2048806528" sldId="261"/>
            <ac:graphicFrameMk id="5" creationId="{011046CC-4C20-D1AC-7ACE-E257D0652707}"/>
          </ac:graphicFrameMkLst>
        </pc:graphicFrameChg>
        <pc:graphicFrameChg chg="add mod">
          <ac:chgData name="Kometsi Khotlele" userId="ba5636ae-54db-46e7-8841-7cf835d82e2d" providerId="ADAL" clId="{6D838E9D-1C44-4D75-8477-50F960722861}" dt="2026-04-19T18:29:04.908" v="751" actId="14100"/>
          <ac:graphicFrameMkLst>
            <pc:docMk/>
            <pc:sldMk cId="2048806528" sldId="261"/>
            <ac:graphicFrameMk id="6" creationId="{77691FA4-FFB3-4D0C-BA54-CDF6E0E3DF36}"/>
          </ac:graphicFrameMkLst>
        </pc:graphicFrameChg>
      </pc:sldChg>
      <pc:sldChg chg="addSp delSp modSp add mod">
        <pc:chgData name="Kometsi Khotlele" userId="ba5636ae-54db-46e7-8841-7cf835d82e2d" providerId="ADAL" clId="{6D838E9D-1C44-4D75-8477-50F960722861}" dt="2026-04-19T18:15:40.194" v="100" actId="20577"/>
        <pc:sldMkLst>
          <pc:docMk/>
          <pc:sldMk cId="1560384115" sldId="262"/>
        </pc:sldMkLst>
        <pc:spChg chg="mod">
          <ac:chgData name="Kometsi Khotlele" userId="ba5636ae-54db-46e7-8841-7cf835d82e2d" providerId="ADAL" clId="{6D838E9D-1C44-4D75-8477-50F960722861}" dt="2026-04-19T18:14:56.544" v="84" actId="20577"/>
          <ac:spMkLst>
            <pc:docMk/>
            <pc:sldMk cId="1560384115" sldId="262"/>
            <ac:spMk id="2" creationId="{F10BD3A9-872A-8060-D2D9-2A0CC82AC815}"/>
          </ac:spMkLst>
        </pc:spChg>
        <pc:spChg chg="mod">
          <ac:chgData name="Kometsi Khotlele" userId="ba5636ae-54db-46e7-8841-7cf835d82e2d" providerId="ADAL" clId="{6D838E9D-1C44-4D75-8477-50F960722861}" dt="2026-04-19T18:15:40.194" v="100" actId="20577"/>
          <ac:spMkLst>
            <pc:docMk/>
            <pc:sldMk cId="1560384115" sldId="262"/>
            <ac:spMk id="3" creationId="{30E688AD-994F-D01E-CF58-899517D55334}"/>
          </ac:spMkLst>
        </pc:spChg>
        <pc:spChg chg="add">
          <ac:chgData name="Kometsi Khotlele" userId="ba5636ae-54db-46e7-8841-7cf835d82e2d" providerId="ADAL" clId="{6D838E9D-1C44-4D75-8477-50F960722861}" dt="2026-04-19T18:13:45.786" v="66"/>
          <ac:spMkLst>
            <pc:docMk/>
            <pc:sldMk cId="1560384115" sldId="262"/>
            <ac:spMk id="5" creationId="{1A7190ED-5817-687F-6960-CD34A3C4F6BC}"/>
          </ac:spMkLst>
        </pc:spChg>
        <pc:spChg chg="add mod">
          <ac:chgData name="Kometsi Khotlele" userId="ba5636ae-54db-46e7-8841-7cf835d82e2d" providerId="ADAL" clId="{6D838E9D-1C44-4D75-8477-50F960722861}" dt="2026-04-19T18:13:55.678" v="69"/>
          <ac:spMkLst>
            <pc:docMk/>
            <pc:sldMk cId="1560384115" sldId="262"/>
            <ac:spMk id="6" creationId="{DA0D49BE-CEFD-C8C0-AA47-2E0DD7E0453E}"/>
          </ac:spMkLst>
        </pc:spChg>
        <pc:graphicFrameChg chg="del">
          <ac:chgData name="Kometsi Khotlele" userId="ba5636ae-54db-46e7-8841-7cf835d82e2d" providerId="ADAL" clId="{6D838E9D-1C44-4D75-8477-50F960722861}" dt="2026-04-19T18:13:39.462" v="64" actId="478"/>
          <ac:graphicFrameMkLst>
            <pc:docMk/>
            <pc:sldMk cId="1560384115" sldId="262"/>
            <ac:graphicFrameMk id="4" creationId="{51A4EE73-155E-E854-1D4D-99FD13AC2504}"/>
          </ac:graphicFrameMkLst>
        </pc:graphicFrameChg>
      </pc:sldChg>
      <pc:sldChg chg="addSp delSp modSp add mod">
        <pc:chgData name="Kometsi Khotlele" userId="ba5636ae-54db-46e7-8841-7cf835d82e2d" providerId="ADAL" clId="{6D838E9D-1C44-4D75-8477-50F960722861}" dt="2026-04-19T18:33:12.894" v="928" actId="14100"/>
        <pc:sldMkLst>
          <pc:docMk/>
          <pc:sldMk cId="363579963" sldId="263"/>
        </pc:sldMkLst>
        <pc:spChg chg="mod">
          <ac:chgData name="Kometsi Khotlele" userId="ba5636ae-54db-46e7-8841-7cf835d82e2d" providerId="ADAL" clId="{6D838E9D-1C44-4D75-8477-50F960722861}" dt="2026-04-19T18:23:04.029" v="237" actId="20577"/>
          <ac:spMkLst>
            <pc:docMk/>
            <pc:sldMk cId="363579963" sldId="263"/>
            <ac:spMk id="2" creationId="{E272552F-F922-32DA-DF4A-86CBB0EF26B7}"/>
          </ac:spMkLst>
        </pc:spChg>
        <pc:spChg chg="mod">
          <ac:chgData name="Kometsi Khotlele" userId="ba5636ae-54db-46e7-8841-7cf835d82e2d" providerId="ADAL" clId="{6D838E9D-1C44-4D75-8477-50F960722861}" dt="2026-04-19T18:33:01.813" v="926" actId="20577"/>
          <ac:spMkLst>
            <pc:docMk/>
            <pc:sldMk cId="363579963" sldId="263"/>
            <ac:spMk id="3" creationId="{8E645816-39F2-93A1-C2DA-708C577F686A}"/>
          </ac:spMkLst>
        </pc:spChg>
        <pc:graphicFrameChg chg="add mod">
          <ac:chgData name="Kometsi Khotlele" userId="ba5636ae-54db-46e7-8841-7cf835d82e2d" providerId="ADAL" clId="{6D838E9D-1C44-4D75-8477-50F960722861}" dt="2026-04-19T18:33:12.894" v="928" actId="14100"/>
          <ac:graphicFrameMkLst>
            <pc:docMk/>
            <pc:sldMk cId="363579963" sldId="263"/>
            <ac:graphicFrameMk id="4" creationId="{08354DC8-FB3F-4F13-8F7C-B137C4AEC626}"/>
          </ac:graphicFrameMkLst>
        </pc:graphicFrameChg>
        <pc:graphicFrameChg chg="del">
          <ac:chgData name="Kometsi Khotlele" userId="ba5636ae-54db-46e7-8841-7cf835d82e2d" providerId="ADAL" clId="{6D838E9D-1C44-4D75-8477-50F960722861}" dt="2026-04-19T18:21:14.499" v="124" actId="478"/>
          <ac:graphicFrameMkLst>
            <pc:docMk/>
            <pc:sldMk cId="363579963" sldId="263"/>
            <ac:graphicFrameMk id="6" creationId="{B17A2326-65B5-4F46-BAE3-2591AFE25488}"/>
          </ac:graphicFrameMkLst>
        </pc:graphicFrameChg>
      </pc:sldChg>
      <pc:sldChg chg="addSp delSp modSp add mod">
        <pc:chgData name="Kometsi Khotlele" userId="ba5636ae-54db-46e7-8841-7cf835d82e2d" providerId="ADAL" clId="{6D838E9D-1C44-4D75-8477-50F960722861}" dt="2026-04-19T18:37:35.883" v="1339" actId="20577"/>
        <pc:sldMkLst>
          <pc:docMk/>
          <pc:sldMk cId="4155419542" sldId="264"/>
        </pc:sldMkLst>
        <pc:spChg chg="mod">
          <ac:chgData name="Kometsi Khotlele" userId="ba5636ae-54db-46e7-8841-7cf835d82e2d" providerId="ADAL" clId="{6D838E9D-1C44-4D75-8477-50F960722861}" dt="2026-04-19T18:34:17.539" v="945" actId="6549"/>
          <ac:spMkLst>
            <pc:docMk/>
            <pc:sldMk cId="4155419542" sldId="264"/>
            <ac:spMk id="2" creationId="{FA6DE55D-49DD-966F-2C81-7F385E48C0E5}"/>
          </ac:spMkLst>
        </pc:spChg>
        <pc:spChg chg="mod">
          <ac:chgData name="Kometsi Khotlele" userId="ba5636ae-54db-46e7-8841-7cf835d82e2d" providerId="ADAL" clId="{6D838E9D-1C44-4D75-8477-50F960722861}" dt="2026-04-19T18:37:35.883" v="1339" actId="20577"/>
          <ac:spMkLst>
            <pc:docMk/>
            <pc:sldMk cId="4155419542" sldId="264"/>
            <ac:spMk id="3" creationId="{A6E833C2-E0E8-9351-8E2A-A9243B543EDE}"/>
          </ac:spMkLst>
        </pc:spChg>
        <pc:graphicFrameChg chg="del">
          <ac:chgData name="Kometsi Khotlele" userId="ba5636ae-54db-46e7-8841-7cf835d82e2d" providerId="ADAL" clId="{6D838E9D-1C44-4D75-8477-50F960722861}" dt="2026-04-19T18:33:54.063" v="930" actId="478"/>
          <ac:graphicFrameMkLst>
            <pc:docMk/>
            <pc:sldMk cId="4155419542" sldId="264"/>
            <ac:graphicFrameMk id="4" creationId="{2F2E91CC-E7D7-546B-1978-53FC20160C00}"/>
          </ac:graphicFrameMkLst>
        </pc:graphicFrameChg>
        <pc:graphicFrameChg chg="add mod">
          <ac:chgData name="Kometsi Khotlele" userId="ba5636ae-54db-46e7-8841-7cf835d82e2d" providerId="ADAL" clId="{6D838E9D-1C44-4D75-8477-50F960722861}" dt="2026-04-19T18:37:29.721" v="1338" actId="14100"/>
          <ac:graphicFrameMkLst>
            <pc:docMk/>
            <pc:sldMk cId="4155419542" sldId="264"/>
            <ac:graphicFrameMk id="5" creationId="{569FFBDE-AA2D-9C9A-2B21-52033C7D5097}"/>
          </ac:graphicFrameMkLst>
        </pc:graphicFrameChg>
      </pc:sldChg>
      <pc:sldChg chg="addSp delSp modSp add mod">
        <pc:chgData name="Kometsi Khotlele" userId="ba5636ae-54db-46e7-8841-7cf835d82e2d" providerId="ADAL" clId="{6D838E9D-1C44-4D75-8477-50F960722861}" dt="2026-04-19T18:44:22.874" v="1865" actId="14100"/>
        <pc:sldMkLst>
          <pc:docMk/>
          <pc:sldMk cId="1134559496" sldId="265"/>
        </pc:sldMkLst>
        <pc:spChg chg="mod">
          <ac:chgData name="Kometsi Khotlele" userId="ba5636ae-54db-46e7-8841-7cf835d82e2d" providerId="ADAL" clId="{6D838E9D-1C44-4D75-8477-50F960722861}" dt="2026-04-19T18:38:44.236" v="1356" actId="20577"/>
          <ac:spMkLst>
            <pc:docMk/>
            <pc:sldMk cId="1134559496" sldId="265"/>
            <ac:spMk id="2" creationId="{250F3DE7-194E-B89F-168A-F1BF4F6AB553}"/>
          </ac:spMkLst>
        </pc:spChg>
        <pc:spChg chg="mod">
          <ac:chgData name="Kometsi Khotlele" userId="ba5636ae-54db-46e7-8841-7cf835d82e2d" providerId="ADAL" clId="{6D838E9D-1C44-4D75-8477-50F960722861}" dt="2026-04-19T18:44:19.949" v="1864" actId="14100"/>
          <ac:spMkLst>
            <pc:docMk/>
            <pc:sldMk cId="1134559496" sldId="265"/>
            <ac:spMk id="3" creationId="{5B44E2B6-50CF-7DC9-4E8D-D42F9DD9108B}"/>
          </ac:spMkLst>
        </pc:spChg>
        <pc:graphicFrameChg chg="add mod">
          <ac:chgData name="Kometsi Khotlele" userId="ba5636ae-54db-46e7-8841-7cf835d82e2d" providerId="ADAL" clId="{6D838E9D-1C44-4D75-8477-50F960722861}" dt="2026-04-19T18:44:22.874" v="1865" actId="14100"/>
          <ac:graphicFrameMkLst>
            <pc:docMk/>
            <pc:sldMk cId="1134559496" sldId="265"/>
            <ac:graphicFrameMk id="4" creationId="{46A43505-6E89-4E4C-95DE-81597904AF8A}"/>
          </ac:graphicFrameMkLst>
        </pc:graphicFrameChg>
        <pc:graphicFrameChg chg="del">
          <ac:chgData name="Kometsi Khotlele" userId="ba5636ae-54db-46e7-8841-7cf835d82e2d" providerId="ADAL" clId="{6D838E9D-1C44-4D75-8477-50F960722861}" dt="2026-04-19T18:38:17.919" v="1341" actId="478"/>
          <ac:graphicFrameMkLst>
            <pc:docMk/>
            <pc:sldMk cId="1134559496" sldId="265"/>
            <ac:graphicFrameMk id="5" creationId="{AA6C4FEE-FC56-813A-9599-495693AB06F4}"/>
          </ac:graphicFrameMkLst>
        </pc:graphicFrameChg>
      </pc:sldChg>
      <pc:sldChg chg="addSp delSp modSp add mod">
        <pc:chgData name="Kometsi Khotlele" userId="ba5636ae-54db-46e7-8841-7cf835d82e2d" providerId="ADAL" clId="{6D838E9D-1C44-4D75-8477-50F960722861}" dt="2026-04-19T18:51:20.207" v="2738" actId="27636"/>
        <pc:sldMkLst>
          <pc:docMk/>
          <pc:sldMk cId="1483938414" sldId="266"/>
        </pc:sldMkLst>
        <pc:spChg chg="mod">
          <ac:chgData name="Kometsi Khotlele" userId="ba5636ae-54db-46e7-8841-7cf835d82e2d" providerId="ADAL" clId="{6D838E9D-1C44-4D75-8477-50F960722861}" dt="2026-04-19T18:46:37.922" v="1931" actId="6549"/>
          <ac:spMkLst>
            <pc:docMk/>
            <pc:sldMk cId="1483938414" sldId="266"/>
            <ac:spMk id="2" creationId="{2AFFBFDA-DC42-1D13-5055-2A89F668BAEC}"/>
          </ac:spMkLst>
        </pc:spChg>
        <pc:spChg chg="mod">
          <ac:chgData name="Kometsi Khotlele" userId="ba5636ae-54db-46e7-8841-7cf835d82e2d" providerId="ADAL" clId="{6D838E9D-1C44-4D75-8477-50F960722861}" dt="2026-04-19T18:51:20.207" v="2738" actId="27636"/>
          <ac:spMkLst>
            <pc:docMk/>
            <pc:sldMk cId="1483938414" sldId="266"/>
            <ac:spMk id="3" creationId="{44520CA2-A599-2787-87AC-E4D93569ACD6}"/>
          </ac:spMkLst>
        </pc:spChg>
        <pc:graphicFrameChg chg="del">
          <ac:chgData name="Kometsi Khotlele" userId="ba5636ae-54db-46e7-8841-7cf835d82e2d" providerId="ADAL" clId="{6D838E9D-1C44-4D75-8477-50F960722861}" dt="2026-04-19T18:45:36.675" v="1867" actId="478"/>
          <ac:graphicFrameMkLst>
            <pc:docMk/>
            <pc:sldMk cId="1483938414" sldId="266"/>
            <ac:graphicFrameMk id="4" creationId="{46B3D364-D5B8-6677-A13C-001EDB53B01B}"/>
          </ac:graphicFrameMkLst>
        </pc:graphicFrameChg>
        <pc:graphicFrameChg chg="add mod">
          <ac:chgData name="Kometsi Khotlele" userId="ba5636ae-54db-46e7-8841-7cf835d82e2d" providerId="ADAL" clId="{6D838E9D-1C44-4D75-8477-50F960722861}" dt="2026-04-19T18:46:49.834" v="1934" actId="14100"/>
          <ac:graphicFrameMkLst>
            <pc:docMk/>
            <pc:sldMk cId="1483938414" sldId="266"/>
            <ac:graphicFrameMk id="5" creationId="{E882525E-B431-4E56-A429-43F625AE34E2}"/>
          </ac:graphicFrameMkLst>
        </pc:graphicFrameChg>
      </pc:sldChg>
      <pc:sldChg chg="addSp delSp modSp add mod">
        <pc:chgData name="Kometsi Khotlele" userId="ba5636ae-54db-46e7-8841-7cf835d82e2d" providerId="ADAL" clId="{6D838E9D-1C44-4D75-8477-50F960722861}" dt="2026-04-19T18:54:03.378" v="2791" actId="14100"/>
        <pc:sldMkLst>
          <pc:docMk/>
          <pc:sldMk cId="1392672265" sldId="267"/>
        </pc:sldMkLst>
        <pc:spChg chg="mod">
          <ac:chgData name="Kometsi Khotlele" userId="ba5636ae-54db-46e7-8841-7cf835d82e2d" providerId="ADAL" clId="{6D838E9D-1C44-4D75-8477-50F960722861}" dt="2026-04-19T18:52:29.705" v="2775" actId="20577"/>
          <ac:spMkLst>
            <pc:docMk/>
            <pc:sldMk cId="1392672265" sldId="267"/>
            <ac:spMk id="2" creationId="{0B8E7909-8540-14C4-5188-30AC08B3BC62}"/>
          </ac:spMkLst>
        </pc:spChg>
        <pc:spChg chg="mod">
          <ac:chgData name="Kometsi Khotlele" userId="ba5636ae-54db-46e7-8841-7cf835d82e2d" providerId="ADAL" clId="{6D838E9D-1C44-4D75-8477-50F960722861}" dt="2026-04-19T18:53:56.958" v="2790" actId="403"/>
          <ac:spMkLst>
            <pc:docMk/>
            <pc:sldMk cId="1392672265" sldId="267"/>
            <ac:spMk id="3" creationId="{1DB6ED21-EF58-BC5C-1929-1E694BEDEF9F}"/>
          </ac:spMkLst>
        </pc:spChg>
        <pc:graphicFrameChg chg="add mod">
          <ac:chgData name="Kometsi Khotlele" userId="ba5636ae-54db-46e7-8841-7cf835d82e2d" providerId="ADAL" clId="{6D838E9D-1C44-4D75-8477-50F960722861}" dt="2026-04-19T18:54:03.378" v="2791" actId="14100"/>
          <ac:graphicFrameMkLst>
            <pc:docMk/>
            <pc:sldMk cId="1392672265" sldId="267"/>
            <ac:graphicFrameMk id="4" creationId="{011046CC-4C20-D1AC-7ACE-E257D0652707}"/>
          </ac:graphicFrameMkLst>
        </pc:graphicFrameChg>
        <pc:graphicFrameChg chg="del">
          <ac:chgData name="Kometsi Khotlele" userId="ba5636ae-54db-46e7-8841-7cf835d82e2d" providerId="ADAL" clId="{6D838E9D-1C44-4D75-8477-50F960722861}" dt="2026-04-19T18:52:06.754" v="2740" actId="478"/>
          <ac:graphicFrameMkLst>
            <pc:docMk/>
            <pc:sldMk cId="1392672265" sldId="267"/>
            <ac:graphicFrameMk id="5" creationId="{07EAF072-6EBC-23C4-0904-455685771DAA}"/>
          </ac:graphicFrameMkLst>
        </pc:graphicFrameChg>
      </pc:sldChg>
      <pc:sldChg chg="delSp modSp add mod">
        <pc:chgData name="Kometsi Khotlele" userId="ba5636ae-54db-46e7-8841-7cf835d82e2d" providerId="ADAL" clId="{6D838E9D-1C44-4D75-8477-50F960722861}" dt="2026-04-19T18:58:32.509" v="2854" actId="20577"/>
        <pc:sldMkLst>
          <pc:docMk/>
          <pc:sldMk cId="2603964810" sldId="268"/>
        </pc:sldMkLst>
        <pc:spChg chg="mod">
          <ac:chgData name="Kometsi Khotlele" userId="ba5636ae-54db-46e7-8841-7cf835d82e2d" providerId="ADAL" clId="{6D838E9D-1C44-4D75-8477-50F960722861}" dt="2026-04-19T18:57:16.467" v="2834" actId="20577"/>
          <ac:spMkLst>
            <pc:docMk/>
            <pc:sldMk cId="2603964810" sldId="268"/>
            <ac:spMk id="2" creationId="{EA3618D5-E278-421B-7F3B-953BB955FF04}"/>
          </ac:spMkLst>
        </pc:spChg>
        <pc:spChg chg="mod">
          <ac:chgData name="Kometsi Khotlele" userId="ba5636ae-54db-46e7-8841-7cf835d82e2d" providerId="ADAL" clId="{6D838E9D-1C44-4D75-8477-50F960722861}" dt="2026-04-19T18:58:32.509" v="2854" actId="20577"/>
          <ac:spMkLst>
            <pc:docMk/>
            <pc:sldMk cId="2603964810" sldId="268"/>
            <ac:spMk id="3" creationId="{0EA6A5A6-010B-CB17-5EDE-8579E70E515B}"/>
          </ac:spMkLst>
        </pc:spChg>
        <pc:graphicFrameChg chg="del">
          <ac:chgData name="Kometsi Khotlele" userId="ba5636ae-54db-46e7-8841-7cf835d82e2d" providerId="ADAL" clId="{6D838E9D-1C44-4D75-8477-50F960722861}" dt="2026-04-19T18:54:55.851" v="2793" actId="478"/>
          <ac:graphicFrameMkLst>
            <pc:docMk/>
            <pc:sldMk cId="2603964810" sldId="268"/>
            <ac:graphicFrameMk id="4" creationId="{A924BD2F-D0E8-F8D4-7EDF-57F06DE5989E}"/>
          </ac:graphicFrameMkLst>
        </pc:graphicFrameChg>
      </pc:sldChg>
      <pc:sldChg chg="modSp add mod ord">
        <pc:chgData name="Kometsi Khotlele" userId="ba5636ae-54db-46e7-8841-7cf835d82e2d" providerId="ADAL" clId="{6D838E9D-1C44-4D75-8477-50F960722861}" dt="2026-04-19T19:05:05.600" v="3156" actId="6549"/>
        <pc:sldMkLst>
          <pc:docMk/>
          <pc:sldMk cId="3205542471" sldId="269"/>
        </pc:sldMkLst>
        <pc:spChg chg="mod">
          <ac:chgData name="Kometsi Khotlele" userId="ba5636ae-54db-46e7-8841-7cf835d82e2d" providerId="ADAL" clId="{6D838E9D-1C44-4D75-8477-50F960722861}" dt="2026-04-19T19:00:56.635" v="2898" actId="20577"/>
          <ac:spMkLst>
            <pc:docMk/>
            <pc:sldMk cId="3205542471" sldId="269"/>
            <ac:spMk id="2" creationId="{6920103E-571E-84E3-0255-2D9946755D45}"/>
          </ac:spMkLst>
        </pc:spChg>
        <pc:spChg chg="mod">
          <ac:chgData name="Kometsi Khotlele" userId="ba5636ae-54db-46e7-8841-7cf835d82e2d" providerId="ADAL" clId="{6D838E9D-1C44-4D75-8477-50F960722861}" dt="2026-04-19T19:05:05.600" v="3156" actId="6549"/>
          <ac:spMkLst>
            <pc:docMk/>
            <pc:sldMk cId="3205542471" sldId="269"/>
            <ac:spMk id="3" creationId="{8B42C0C6-3D6D-2A25-CDB8-4DAB62079D57}"/>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proconicsza-my.sharepoint.com/personal/kometsi_khotlele_progo_co_za/Documents/Desktop/Consolidated%20Analysis%20BTV%20Case.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3" Type="http://schemas.openxmlformats.org/officeDocument/2006/relationships/oleObject" Target="https://proconicsza-my.sharepoint.com/personal/kometsi_khotlele_progo_co_za/Documents/Desktop/Consolidated%20Analysis%20BTV%20Cas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proconicsza-my.sharepoint.com/personal/kometsi_khotlele_progo_co_za/Documents/Desktop/Consolidated%20Analysis%20BTV%20Cas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proconicsza-my.sharepoint.com/personal/kometsi_khotlele_progo_co_za/Documents/Desktop/Consolidated%20Analysis%20BTV%20Cas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Viewbehaviour</a:t>
            </a:r>
            <a:r>
              <a:rPr lang="en-ZA" baseline="0"/>
              <a:t> by Age group</a:t>
            </a:r>
            <a:endParaRPr lang="en-ZA"/>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lotArea>
      <c:layout/>
      <c:barChart>
        <c:barDir val="col"/>
        <c:grouping val="clustered"/>
        <c:varyColors val="0"/>
        <c:ser>
          <c:idx val="0"/>
          <c:order val="0"/>
          <c:tx>
            <c:strRef>
              <c:f>'C:\Users\zakes.khotlele\Downloads\[Biz_Question_Age_ViewType_Distribution.csv]Biz_Question_Age_ViewType_Distr'!$B$1</c:f>
              <c:strCache>
                <c:ptCount val="1"/>
                <c:pt idx="0">
                  <c:v>Invalid Duration</c:v>
                </c:pt>
              </c:strCache>
            </c:strRef>
          </c:tx>
          <c:spPr>
            <a:solidFill>
              <a:schemeClr val="accent1"/>
            </a:solidFill>
            <a:ln>
              <a:noFill/>
            </a:ln>
            <a:effectLst/>
          </c:spPr>
          <c:invertIfNegative val="0"/>
          <c:cat>
            <c:strRef>
              <c:f>[5]Biz_Question_Age_ViewType_Distr!$A$2:$A$7</c:f>
              <c:strCache>
                <c:ptCount val="6"/>
                <c:pt idx="0">
                  <c:v>Kids</c:v>
                </c:pt>
                <c:pt idx="1">
                  <c:v>Mature_Adults</c:v>
                </c:pt>
                <c:pt idx="2">
                  <c:v>Senior</c:v>
                </c:pt>
                <c:pt idx="3">
                  <c:v>Unknown</c:v>
                </c:pt>
                <c:pt idx="4">
                  <c:v>Young_Adult</c:v>
                </c:pt>
                <c:pt idx="5">
                  <c:v>Youth</c:v>
                </c:pt>
              </c:strCache>
            </c:strRef>
          </c:cat>
          <c:val>
            <c:numRef>
              <c:f>[5]Biz_Question_Age_ViewType_Distr!$B$2:$B$7</c:f>
              <c:numCache>
                <c:formatCode>General</c:formatCode>
                <c:ptCount val="6"/>
                <c:pt idx="0">
                  <c:v>2</c:v>
                </c:pt>
                <c:pt idx="1">
                  <c:v>50</c:v>
                </c:pt>
                <c:pt idx="2">
                  <c:v>6</c:v>
                </c:pt>
                <c:pt idx="3">
                  <c:v>745</c:v>
                </c:pt>
                <c:pt idx="4">
                  <c:v>170</c:v>
                </c:pt>
                <c:pt idx="5">
                  <c:v>17</c:v>
                </c:pt>
              </c:numCache>
            </c:numRef>
          </c:val>
          <c:extLst>
            <c:ext xmlns:c16="http://schemas.microsoft.com/office/drawing/2014/chart" uri="{C3380CC4-5D6E-409C-BE32-E72D297353CC}">
              <c16:uniqueId val="{00000000-A425-41CA-8F5B-B3A5F0CD72FF}"/>
            </c:ext>
          </c:extLst>
        </c:ser>
        <c:ser>
          <c:idx val="1"/>
          <c:order val="1"/>
          <c:tx>
            <c:strRef>
              <c:f>'C:\Users\zakes.khotlele\Downloads\[Biz_Question_Age_ViewType_Distribution.csv]Biz_Question_Age_ViewType_Distr'!$C$1</c:f>
              <c:strCache>
                <c:ptCount val="1"/>
                <c:pt idx="0">
                  <c:v>Long</c:v>
                </c:pt>
              </c:strCache>
            </c:strRef>
          </c:tx>
          <c:spPr>
            <a:solidFill>
              <a:schemeClr val="accent2"/>
            </a:solidFill>
            <a:ln>
              <a:noFill/>
            </a:ln>
            <a:effectLst/>
          </c:spPr>
          <c:invertIfNegative val="0"/>
          <c:cat>
            <c:strRef>
              <c:f>[5]Biz_Question_Age_ViewType_Distr!$A$2:$A$7</c:f>
              <c:strCache>
                <c:ptCount val="6"/>
                <c:pt idx="0">
                  <c:v>Kids</c:v>
                </c:pt>
                <c:pt idx="1">
                  <c:v>Mature_Adults</c:v>
                </c:pt>
                <c:pt idx="2">
                  <c:v>Senior</c:v>
                </c:pt>
                <c:pt idx="3">
                  <c:v>Unknown</c:v>
                </c:pt>
                <c:pt idx="4">
                  <c:v>Young_Adult</c:v>
                </c:pt>
                <c:pt idx="5">
                  <c:v>Youth</c:v>
                </c:pt>
              </c:strCache>
            </c:strRef>
          </c:cat>
          <c:val>
            <c:numRef>
              <c:f>[5]Biz_Question_Age_ViewType_Distr!$C$2:$C$7</c:f>
              <c:numCache>
                <c:formatCode>General</c:formatCode>
                <c:ptCount val="6"/>
                <c:pt idx="0">
                  <c:v>10</c:v>
                </c:pt>
                <c:pt idx="1">
                  <c:v>258</c:v>
                </c:pt>
                <c:pt idx="2">
                  <c:v>32</c:v>
                </c:pt>
                <c:pt idx="3">
                  <c:v>17</c:v>
                </c:pt>
                <c:pt idx="4">
                  <c:v>431</c:v>
                </c:pt>
                <c:pt idx="5">
                  <c:v>7</c:v>
                </c:pt>
              </c:numCache>
            </c:numRef>
          </c:val>
          <c:extLst>
            <c:ext xmlns:c16="http://schemas.microsoft.com/office/drawing/2014/chart" uri="{C3380CC4-5D6E-409C-BE32-E72D297353CC}">
              <c16:uniqueId val="{00000001-A425-41CA-8F5B-B3A5F0CD72FF}"/>
            </c:ext>
          </c:extLst>
        </c:ser>
        <c:ser>
          <c:idx val="2"/>
          <c:order val="2"/>
          <c:tx>
            <c:strRef>
              <c:f>'C:\Users\zakes.khotlele\Downloads\[Biz_Question_Age_ViewType_Distribution.csv]Biz_Question_Age_ViewType_Distr'!$D$1</c:f>
              <c:strCache>
                <c:ptCount val="1"/>
                <c:pt idx="0">
                  <c:v>Medium</c:v>
                </c:pt>
              </c:strCache>
            </c:strRef>
          </c:tx>
          <c:spPr>
            <a:solidFill>
              <a:schemeClr val="accent3"/>
            </a:solidFill>
            <a:ln>
              <a:noFill/>
            </a:ln>
            <a:effectLst/>
          </c:spPr>
          <c:invertIfNegative val="0"/>
          <c:cat>
            <c:strRef>
              <c:f>[5]Biz_Question_Age_ViewType_Distr!$A$2:$A$7</c:f>
              <c:strCache>
                <c:ptCount val="6"/>
                <c:pt idx="0">
                  <c:v>Kids</c:v>
                </c:pt>
                <c:pt idx="1">
                  <c:v>Mature_Adults</c:v>
                </c:pt>
                <c:pt idx="2">
                  <c:v>Senior</c:v>
                </c:pt>
                <c:pt idx="3">
                  <c:v>Unknown</c:v>
                </c:pt>
                <c:pt idx="4">
                  <c:v>Young_Adult</c:v>
                </c:pt>
                <c:pt idx="5">
                  <c:v>Youth</c:v>
                </c:pt>
              </c:strCache>
            </c:strRef>
          </c:cat>
          <c:val>
            <c:numRef>
              <c:f>[5]Biz_Question_Age_ViewType_Distr!$D$2:$D$7</c:f>
              <c:numCache>
                <c:formatCode>General</c:formatCode>
                <c:ptCount val="6"/>
                <c:pt idx="0">
                  <c:v>52</c:v>
                </c:pt>
                <c:pt idx="1">
                  <c:v>1811</c:v>
                </c:pt>
                <c:pt idx="2">
                  <c:v>272</c:v>
                </c:pt>
                <c:pt idx="3">
                  <c:v>140</c:v>
                </c:pt>
                <c:pt idx="4">
                  <c:v>3058</c:v>
                </c:pt>
                <c:pt idx="5">
                  <c:v>104</c:v>
                </c:pt>
              </c:numCache>
            </c:numRef>
          </c:val>
          <c:extLst>
            <c:ext xmlns:c16="http://schemas.microsoft.com/office/drawing/2014/chart" uri="{C3380CC4-5D6E-409C-BE32-E72D297353CC}">
              <c16:uniqueId val="{00000002-A425-41CA-8F5B-B3A5F0CD72FF}"/>
            </c:ext>
          </c:extLst>
        </c:ser>
        <c:ser>
          <c:idx val="3"/>
          <c:order val="3"/>
          <c:tx>
            <c:strRef>
              <c:f>'C:\Users\zakes.khotlele\Downloads\[Biz_Question_Age_ViewType_Distribution.csv]Biz_Question_Age_ViewType_Distr'!$E$1</c:f>
              <c:strCache>
                <c:ptCount val="1"/>
                <c:pt idx="0">
                  <c:v>Short</c:v>
                </c:pt>
              </c:strCache>
            </c:strRef>
          </c:tx>
          <c:spPr>
            <a:solidFill>
              <a:schemeClr val="accent4"/>
            </a:solidFill>
            <a:ln>
              <a:noFill/>
            </a:ln>
            <a:effectLst/>
          </c:spPr>
          <c:invertIfNegative val="0"/>
          <c:cat>
            <c:strRef>
              <c:f>[5]Biz_Question_Age_ViewType_Distr!$A$2:$A$7</c:f>
              <c:strCache>
                <c:ptCount val="6"/>
                <c:pt idx="0">
                  <c:v>Kids</c:v>
                </c:pt>
                <c:pt idx="1">
                  <c:v>Mature_Adults</c:v>
                </c:pt>
                <c:pt idx="2">
                  <c:v>Senior</c:v>
                </c:pt>
                <c:pt idx="3">
                  <c:v>Unknown</c:v>
                </c:pt>
                <c:pt idx="4">
                  <c:v>Young_Adult</c:v>
                </c:pt>
                <c:pt idx="5">
                  <c:v>Youth</c:v>
                </c:pt>
              </c:strCache>
            </c:strRef>
          </c:cat>
          <c:val>
            <c:numRef>
              <c:f>[5]Biz_Question_Age_ViewType_Distr!$E$2:$E$7</c:f>
              <c:numCache>
                <c:formatCode>General</c:formatCode>
                <c:ptCount val="6"/>
                <c:pt idx="0">
                  <c:v>21</c:v>
                </c:pt>
                <c:pt idx="1">
                  <c:v>1259</c:v>
                </c:pt>
                <c:pt idx="2">
                  <c:v>196</c:v>
                </c:pt>
                <c:pt idx="3">
                  <c:v>103</c:v>
                </c:pt>
                <c:pt idx="4">
                  <c:v>2143</c:v>
                </c:pt>
                <c:pt idx="5">
                  <c:v>85</c:v>
                </c:pt>
              </c:numCache>
            </c:numRef>
          </c:val>
          <c:extLst>
            <c:ext xmlns:c16="http://schemas.microsoft.com/office/drawing/2014/chart" uri="{C3380CC4-5D6E-409C-BE32-E72D297353CC}">
              <c16:uniqueId val="{00000003-A425-41CA-8F5B-B3A5F0CD72FF}"/>
            </c:ext>
          </c:extLst>
        </c:ser>
        <c:dLbls>
          <c:showLegendKey val="0"/>
          <c:showVal val="0"/>
          <c:showCatName val="0"/>
          <c:showSerName val="0"/>
          <c:showPercent val="0"/>
          <c:showBubbleSize val="0"/>
        </c:dLbls>
        <c:gapWidth val="219"/>
        <c:overlap val="-27"/>
        <c:axId val="1690303263"/>
        <c:axId val="1690317183"/>
      </c:barChart>
      <c:catAx>
        <c:axId val="1690303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0317183"/>
        <c:crosses val="autoZero"/>
        <c:auto val="1"/>
        <c:lblAlgn val="ctr"/>
        <c:lblOffset val="100"/>
        <c:noMultiLvlLbl val="0"/>
      </c:catAx>
      <c:valAx>
        <c:axId val="169031718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03032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[Consolidated Analysis BTV Case.xlsx]Sheet9!PivotTable28</c:name>
    <c:fmtId val="5"/>
  </c:pivotSource>
  <c:chart>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percentStacked"/>
        <c:varyColors val="0"/>
        <c:ser>
          <c:idx val="0"/>
          <c:order val="0"/>
          <c:tx>
            <c:strRef>
              <c:f>Sheet9!$B$3</c:f>
              <c:strCache>
                <c:ptCount val="1"/>
                <c:pt idx="0">
                  <c:v>Sum of Number of Sessions</c:v>
                </c:pt>
              </c:strCache>
            </c:strRef>
          </c:tx>
          <c:spPr>
            <a:solidFill>
              <a:schemeClr val="accent1"/>
            </a:solidFill>
            <a:ln>
              <a:noFill/>
            </a:ln>
            <a:effectLst/>
            <a:sp3d/>
          </c:spPr>
          <c:invertIfNegative val="0"/>
          <c:cat>
            <c:strRef>
              <c:f>Sheet9!$A$4:$A$11</c:f>
              <c:strCache>
                <c:ptCount val="7"/>
                <c:pt idx="0">
                  <c:v>Sunday</c:v>
                </c:pt>
                <c:pt idx="1">
                  <c:v>Monday</c:v>
                </c:pt>
                <c:pt idx="2">
                  <c:v>Tuesday</c:v>
                </c:pt>
                <c:pt idx="3">
                  <c:v>Wednesday</c:v>
                </c:pt>
                <c:pt idx="4">
                  <c:v>Thursday</c:v>
                </c:pt>
                <c:pt idx="5">
                  <c:v>Friday</c:v>
                </c:pt>
                <c:pt idx="6">
                  <c:v>Saturday</c:v>
                </c:pt>
              </c:strCache>
            </c:strRef>
          </c:cat>
          <c:val>
            <c:numRef>
              <c:f>Sheet9!$B$4:$B$11</c:f>
              <c:numCache>
                <c:formatCode>General</c:formatCode>
                <c:ptCount val="7"/>
                <c:pt idx="0">
                  <c:v>1.3979999999999999</c:v>
                </c:pt>
                <c:pt idx="1">
                  <c:v>974</c:v>
                </c:pt>
                <c:pt idx="2">
                  <c:v>1.321</c:v>
                </c:pt>
                <c:pt idx="3">
                  <c:v>1.5389999999999999</c:v>
                </c:pt>
                <c:pt idx="4">
                  <c:v>1.4710000000000001</c:v>
                </c:pt>
                <c:pt idx="5">
                  <c:v>1.6419999999999999</c:v>
                </c:pt>
                <c:pt idx="6">
                  <c:v>1.655</c:v>
                </c:pt>
              </c:numCache>
            </c:numRef>
          </c:val>
          <c:extLst>
            <c:ext xmlns:c16="http://schemas.microsoft.com/office/drawing/2014/chart" uri="{C3380CC4-5D6E-409C-BE32-E72D297353CC}">
              <c16:uniqueId val="{00000000-AB6D-48A9-88F4-A0D8C51C3641}"/>
            </c:ext>
          </c:extLst>
        </c:ser>
        <c:ser>
          <c:idx val="1"/>
          <c:order val="1"/>
          <c:tx>
            <c:strRef>
              <c:f>Sheet9!$C$3</c:f>
              <c:strCache>
                <c:ptCount val="1"/>
                <c:pt idx="0">
                  <c:v>Count of Avg. Seconds per Session</c:v>
                </c:pt>
              </c:strCache>
            </c:strRef>
          </c:tx>
          <c:spPr>
            <a:solidFill>
              <a:schemeClr val="accent2"/>
            </a:solidFill>
            <a:ln>
              <a:noFill/>
            </a:ln>
            <a:effectLst/>
            <a:sp3d/>
          </c:spPr>
          <c:invertIfNegative val="0"/>
          <c:cat>
            <c:strRef>
              <c:f>Sheet9!$A$4:$A$11</c:f>
              <c:strCache>
                <c:ptCount val="7"/>
                <c:pt idx="0">
                  <c:v>Sunday</c:v>
                </c:pt>
                <c:pt idx="1">
                  <c:v>Monday</c:v>
                </c:pt>
                <c:pt idx="2">
                  <c:v>Tuesday</c:v>
                </c:pt>
                <c:pt idx="3">
                  <c:v>Wednesday</c:v>
                </c:pt>
                <c:pt idx="4">
                  <c:v>Thursday</c:v>
                </c:pt>
                <c:pt idx="5">
                  <c:v>Friday</c:v>
                </c:pt>
                <c:pt idx="6">
                  <c:v>Saturday</c:v>
                </c:pt>
              </c:strCache>
            </c:strRef>
          </c:cat>
          <c:val>
            <c:numRef>
              <c:f>Sheet9!$C$4:$C$11</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1-AB6D-48A9-88F4-A0D8C51C3641}"/>
            </c:ext>
          </c:extLst>
        </c:ser>
        <c:dLbls>
          <c:showLegendKey val="0"/>
          <c:showVal val="0"/>
          <c:showCatName val="0"/>
          <c:showSerName val="0"/>
          <c:showPercent val="0"/>
          <c:showBubbleSize val="0"/>
        </c:dLbls>
        <c:gapWidth val="150"/>
        <c:shape val="box"/>
        <c:axId val="1164975120"/>
        <c:axId val="920126047"/>
        <c:axId val="0"/>
      </c:bar3DChart>
      <c:catAx>
        <c:axId val="11649751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0126047"/>
        <c:crosses val="autoZero"/>
        <c:auto val="1"/>
        <c:lblAlgn val="ctr"/>
        <c:lblOffset val="100"/>
        <c:noMultiLvlLbl val="0"/>
      </c:catAx>
      <c:valAx>
        <c:axId val="9201260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Weekly Usage Trends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649751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r>
              <a:rPr lang="en-ZA"/>
              <a:t>CHANNEL VIEW BY GENDER</a:t>
            </a: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'C:\Users\zakes.khotlele\Downloads\[Chart_Data_Channel_vs_Gender (1).csv]Chart_Data_Channel_vs_Gender (1'!$B$1</c:f>
              <c:strCache>
                <c:ptCount val="1"/>
                <c:pt idx="0">
                  <c:v>Unknown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'[1]Chart_Data_Channel_vs_Gender (1'!$A$2:$A$21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'[1]Chart_Data_Channel_vs_Gender (1'!$B$2:$B$21</c:f>
              <c:numCache>
                <c:formatCode>General</c:formatCode>
                <c:ptCount val="20"/>
                <c:pt idx="0">
                  <c:v>2953</c:v>
                </c:pt>
                <c:pt idx="1">
                  <c:v>7752</c:v>
                </c:pt>
                <c:pt idx="2">
                  <c:v>46</c:v>
                </c:pt>
                <c:pt idx="3">
                  <c:v>5835</c:v>
                </c:pt>
                <c:pt idx="4">
                  <c:v>22464</c:v>
                </c:pt>
                <c:pt idx="5">
                  <c:v>3913</c:v>
                </c:pt>
                <c:pt idx="6">
                  <c:v>1020</c:v>
                </c:pt>
                <c:pt idx="7">
                  <c:v>3028</c:v>
                </c:pt>
                <c:pt idx="8">
                  <c:v>56748</c:v>
                </c:pt>
                <c:pt idx="9">
                  <c:v>405</c:v>
                </c:pt>
                <c:pt idx="10">
                  <c:v>0</c:v>
                </c:pt>
                <c:pt idx="11">
                  <c:v>394</c:v>
                </c:pt>
                <c:pt idx="12">
                  <c:v>523</c:v>
                </c:pt>
                <c:pt idx="13">
                  <c:v>928</c:v>
                </c:pt>
                <c:pt idx="14">
                  <c:v>7462</c:v>
                </c:pt>
                <c:pt idx="15">
                  <c:v>13534</c:v>
                </c:pt>
                <c:pt idx="16">
                  <c:v>3135</c:v>
                </c:pt>
                <c:pt idx="17">
                  <c:v>0</c:v>
                </c:pt>
                <c:pt idx="18">
                  <c:v>46</c:v>
                </c:pt>
                <c:pt idx="19">
                  <c:v>0</c:v>
                </c:pt>
              </c:numCache>
            </c:numRef>
          </c:val>
          <c:extLst>
            <c:ext xmlns:c16="http://schemas.microsoft.com/office/drawing/2014/chart" uri="{C3380CC4-5D6E-409C-BE32-E72D297353CC}">
              <c16:uniqueId val="{00000000-FA0E-4965-A17A-B60A9656D429}"/>
            </c:ext>
          </c:extLst>
        </c:ser>
        <c:ser>
          <c:idx val="1"/>
          <c:order val="1"/>
          <c:tx>
            <c:strRef>
              <c:f>'C:\Users\zakes.khotlele\Downloads\[Chart_Data_Channel_vs_Gender (1).csv]Chart_Data_Channel_vs_Gender (1'!$C$1</c:f>
              <c:strCache>
                <c:ptCount val="1"/>
                <c:pt idx="0">
                  <c:v>female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'[1]Chart_Data_Channel_vs_Gender (1'!$A$2:$A$21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'[1]Chart_Data_Channel_vs_Gender (1'!$C$2:$C$21</c:f>
              <c:numCache>
                <c:formatCode>General</c:formatCode>
                <c:ptCount val="20"/>
                <c:pt idx="0">
                  <c:v>49728</c:v>
                </c:pt>
                <c:pt idx="1">
                  <c:v>25239</c:v>
                </c:pt>
                <c:pt idx="2">
                  <c:v>25</c:v>
                </c:pt>
                <c:pt idx="3">
                  <c:v>49184</c:v>
                </c:pt>
                <c:pt idx="4">
                  <c:v>79329</c:v>
                </c:pt>
                <c:pt idx="5">
                  <c:v>5522</c:v>
                </c:pt>
                <c:pt idx="6">
                  <c:v>2395</c:v>
                </c:pt>
                <c:pt idx="7">
                  <c:v>28550</c:v>
                </c:pt>
                <c:pt idx="8">
                  <c:v>61922</c:v>
                </c:pt>
                <c:pt idx="9">
                  <c:v>0</c:v>
                </c:pt>
                <c:pt idx="10">
                  <c:v>72</c:v>
                </c:pt>
                <c:pt idx="11">
                  <c:v>1386</c:v>
                </c:pt>
                <c:pt idx="12">
                  <c:v>258</c:v>
                </c:pt>
                <c:pt idx="13">
                  <c:v>2806</c:v>
                </c:pt>
                <c:pt idx="14">
                  <c:v>15151</c:v>
                </c:pt>
                <c:pt idx="15">
                  <c:v>71924</c:v>
                </c:pt>
                <c:pt idx="16">
                  <c:v>105039</c:v>
                </c:pt>
                <c:pt idx="17">
                  <c:v>0</c:v>
                </c:pt>
                <c:pt idx="18">
                  <c:v>404</c:v>
                </c:pt>
                <c:pt idx="19">
                  <c:v>0</c:v>
                </c:pt>
              </c:numCache>
            </c:numRef>
          </c:val>
          <c:extLst>
            <c:ext xmlns:c16="http://schemas.microsoft.com/office/drawing/2014/chart" uri="{C3380CC4-5D6E-409C-BE32-E72D297353CC}">
              <c16:uniqueId val="{00000001-FA0E-4965-A17A-B60A9656D429}"/>
            </c:ext>
          </c:extLst>
        </c:ser>
        <c:ser>
          <c:idx val="2"/>
          <c:order val="2"/>
          <c:tx>
            <c:strRef>
              <c:f>'C:\Users\zakes.khotlele\Downloads\[Chart_Data_Channel_vs_Gender (1).csv]Chart_Data_Channel_vs_Gender (1'!$D$1</c:f>
              <c:strCache>
                <c:ptCount val="1"/>
                <c:pt idx="0">
                  <c:v>male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'[1]Chart_Data_Channel_vs_Gender (1'!$A$2:$A$21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'[1]Chart_Data_Channel_vs_Gender (1'!$D$2:$D$21</c:f>
              <c:numCache>
                <c:formatCode>General</c:formatCode>
                <c:ptCount val="20"/>
                <c:pt idx="0">
                  <c:v>122691</c:v>
                </c:pt>
                <c:pt idx="1">
                  <c:v>230742</c:v>
                </c:pt>
                <c:pt idx="2">
                  <c:v>3139</c:v>
                </c:pt>
                <c:pt idx="3">
                  <c:v>197898</c:v>
                </c:pt>
                <c:pt idx="4">
                  <c:v>592128</c:v>
                </c:pt>
                <c:pt idx="5">
                  <c:v>234564</c:v>
                </c:pt>
                <c:pt idx="6">
                  <c:v>13990</c:v>
                </c:pt>
                <c:pt idx="7">
                  <c:v>101566</c:v>
                </c:pt>
                <c:pt idx="8">
                  <c:v>1364982</c:v>
                </c:pt>
                <c:pt idx="9">
                  <c:v>9339</c:v>
                </c:pt>
                <c:pt idx="10">
                  <c:v>210</c:v>
                </c:pt>
                <c:pt idx="11">
                  <c:v>12262</c:v>
                </c:pt>
                <c:pt idx="12">
                  <c:v>1672</c:v>
                </c:pt>
                <c:pt idx="13">
                  <c:v>33774</c:v>
                </c:pt>
                <c:pt idx="14">
                  <c:v>303833</c:v>
                </c:pt>
                <c:pt idx="15">
                  <c:v>1043420</c:v>
                </c:pt>
                <c:pt idx="16">
                  <c:v>582753</c:v>
                </c:pt>
                <c:pt idx="17">
                  <c:v>0</c:v>
                </c:pt>
                <c:pt idx="18">
                  <c:v>4689</c:v>
                </c:pt>
                <c:pt idx="19">
                  <c:v>31</c:v>
                </c:pt>
              </c:numCache>
            </c:numRef>
          </c:val>
          <c:extLst>
            <c:ext xmlns:c16="http://schemas.microsoft.com/office/drawing/2014/chart" uri="{C3380CC4-5D6E-409C-BE32-E72D297353CC}">
              <c16:uniqueId val="{00000002-FA0E-4965-A17A-B60A9656D429}"/>
            </c:ext>
          </c:extLst>
        </c:ser>
        <c:dLbls>
          <c:dLblPos val="ctr"/>
          <c:showLegendKey val="0"/>
          <c:showVal val="1"/>
          <c:showCatName val="0"/>
          <c:showSerName val="0"/>
          <c:showPercent val="0"/>
          <c:showBubbleSize val="0"/>
        </c:dLbls>
        <c:gapWidth val="79"/>
        <c:overlap val="100"/>
        <c:axId val="919872623"/>
        <c:axId val="919876463"/>
      </c:barChart>
      <c:catAx>
        <c:axId val="9198726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mn-lt"/>
                <a:ea typeface="+mn-ea"/>
                <a:cs typeface="+mn-cs"/>
              </a:defRPr>
            </a:pPr>
            <a:endParaRPr lang="en-US"/>
          </a:p>
        </c:txPr>
        <c:crossAx val="919876463"/>
        <c:crosses val="autoZero"/>
        <c:auto val="1"/>
        <c:lblAlgn val="ctr"/>
        <c:lblOffset val="100"/>
        <c:noMultiLvlLbl val="0"/>
      </c:catAx>
      <c:valAx>
        <c:axId val="919876463"/>
        <c:scaling>
          <c:orientation val="minMax"/>
        </c:scaling>
        <c:delete val="1"/>
        <c:axPos val="b"/>
        <c:numFmt formatCode="General" sourceLinked="1"/>
        <c:majorTickMark val="none"/>
        <c:minorTickMark val="none"/>
        <c:tickLblPos val="nextTo"/>
        <c:crossAx val="91987262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Time Viewership</a:t>
            </a:r>
            <a:r>
              <a:rPr lang="en-ZA" baseline="0"/>
              <a:t> by Race</a:t>
            </a:r>
            <a:endParaRPr lang="en-ZA"/>
          </a:p>
        </c:rich>
      </c:tx>
      <c:layout>
        <c:manualLayout>
          <c:xMode val="edge"/>
          <c:yMode val="edge"/>
          <c:x val="0.2755624798237119"/>
          <c:y val="2.721088435374149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lotArea>
      <c:layout/>
      <c:barChart>
        <c:barDir val="col"/>
        <c:grouping val="clustered"/>
        <c:varyColors val="0"/>
        <c:ser>
          <c:idx val="0"/>
          <c:order val="0"/>
          <c:tx>
            <c:strRef>
              <c:f>'TimeViewership by Race'!$B$1</c:f>
              <c:strCache>
                <c:ptCount val="1"/>
                <c:pt idx="0">
                  <c:v>Morning</c:v>
                </c:pt>
              </c:strCache>
            </c:strRef>
          </c:tx>
          <c:spPr>
            <a:solidFill>
              <a:schemeClr val="accent1"/>
            </a:solidFill>
            <a:ln>
              <a:noFill/>
            </a:ln>
            <a:effectLst/>
          </c:spPr>
          <c:invertIfNegative val="0"/>
          <c:cat>
            <c:strRef>
              <c:f>'TimeViewership by Race'!$A$2:$A$6</c:f>
              <c:strCache>
                <c:ptCount val="5"/>
                <c:pt idx="0">
                  <c:v>Black</c:v>
                </c:pt>
                <c:pt idx="1">
                  <c:v>Indian/Asian</c:v>
                </c:pt>
                <c:pt idx="2">
                  <c:v>Coloured</c:v>
                </c:pt>
                <c:pt idx="3">
                  <c:v>White</c:v>
                </c:pt>
                <c:pt idx="4">
                  <c:v>Other</c:v>
                </c:pt>
              </c:strCache>
            </c:strRef>
          </c:cat>
          <c:val>
            <c:numRef>
              <c:f>'TimeViewership by Race'!$B$2:$B$6</c:f>
              <c:numCache>
                <c:formatCode>General</c:formatCode>
                <c:ptCount val="5"/>
                <c:pt idx="0">
                  <c:v>1.163</c:v>
                </c:pt>
                <c:pt idx="1">
                  <c:v>601</c:v>
                </c:pt>
                <c:pt idx="2">
                  <c:v>485</c:v>
                </c:pt>
                <c:pt idx="3">
                  <c:v>470</c:v>
                </c:pt>
                <c:pt idx="4">
                  <c:v>29</c:v>
                </c:pt>
              </c:numCache>
            </c:numRef>
          </c:val>
          <c:extLst>
            <c:ext xmlns:c16="http://schemas.microsoft.com/office/drawing/2014/chart" uri="{C3380CC4-5D6E-409C-BE32-E72D297353CC}">
              <c16:uniqueId val="{00000000-3AE6-4BBA-AF9E-2BC543F1CDC0}"/>
            </c:ext>
          </c:extLst>
        </c:ser>
        <c:ser>
          <c:idx val="1"/>
          <c:order val="1"/>
          <c:tx>
            <c:strRef>
              <c:f>'TimeViewership by Race'!$C$1</c:f>
              <c:strCache>
                <c:ptCount val="1"/>
                <c:pt idx="0">
                  <c:v>Afternoon</c:v>
                </c:pt>
              </c:strCache>
            </c:strRef>
          </c:tx>
          <c:spPr>
            <a:solidFill>
              <a:schemeClr val="accent2"/>
            </a:solidFill>
            <a:ln>
              <a:noFill/>
            </a:ln>
            <a:effectLst/>
          </c:spPr>
          <c:invertIfNegative val="0"/>
          <c:cat>
            <c:strRef>
              <c:f>'TimeViewership by Race'!$A$2:$A$6</c:f>
              <c:strCache>
                <c:ptCount val="5"/>
                <c:pt idx="0">
                  <c:v>Black</c:v>
                </c:pt>
                <c:pt idx="1">
                  <c:v>Indian/Asian</c:v>
                </c:pt>
                <c:pt idx="2">
                  <c:v>Coloured</c:v>
                </c:pt>
                <c:pt idx="3">
                  <c:v>White</c:v>
                </c:pt>
                <c:pt idx="4">
                  <c:v>Other</c:v>
                </c:pt>
              </c:strCache>
            </c:strRef>
          </c:cat>
          <c:val>
            <c:numRef>
              <c:f>'TimeViewership by Race'!$C$2:$C$6</c:f>
              <c:numCache>
                <c:formatCode>General</c:formatCode>
                <c:ptCount val="5"/>
                <c:pt idx="0">
                  <c:v>1.3009999999999999</c:v>
                </c:pt>
                <c:pt idx="1">
                  <c:v>562</c:v>
                </c:pt>
                <c:pt idx="2">
                  <c:v>514</c:v>
                </c:pt>
                <c:pt idx="3">
                  <c:v>424</c:v>
                </c:pt>
                <c:pt idx="4">
                  <c:v>35</c:v>
                </c:pt>
              </c:numCache>
            </c:numRef>
          </c:val>
          <c:extLst>
            <c:ext xmlns:c16="http://schemas.microsoft.com/office/drawing/2014/chart" uri="{C3380CC4-5D6E-409C-BE32-E72D297353CC}">
              <c16:uniqueId val="{00000001-3AE6-4BBA-AF9E-2BC543F1CDC0}"/>
            </c:ext>
          </c:extLst>
        </c:ser>
        <c:ser>
          <c:idx val="2"/>
          <c:order val="2"/>
          <c:tx>
            <c:strRef>
              <c:f>'TimeViewership by Race'!$D$1</c:f>
              <c:strCache>
                <c:ptCount val="1"/>
                <c:pt idx="0">
                  <c:v>Evening/Prime</c:v>
                </c:pt>
              </c:strCache>
            </c:strRef>
          </c:tx>
          <c:spPr>
            <a:solidFill>
              <a:schemeClr val="accent3"/>
            </a:solidFill>
            <a:ln>
              <a:noFill/>
            </a:ln>
            <a:effectLst/>
          </c:spPr>
          <c:invertIfNegative val="0"/>
          <c:cat>
            <c:strRef>
              <c:f>'TimeViewership by Race'!$A$2:$A$6</c:f>
              <c:strCache>
                <c:ptCount val="5"/>
                <c:pt idx="0">
                  <c:v>Black</c:v>
                </c:pt>
                <c:pt idx="1">
                  <c:v>Indian/Asian</c:v>
                </c:pt>
                <c:pt idx="2">
                  <c:v>Coloured</c:v>
                </c:pt>
                <c:pt idx="3">
                  <c:v>White</c:v>
                </c:pt>
                <c:pt idx="4">
                  <c:v>Other</c:v>
                </c:pt>
              </c:strCache>
            </c:strRef>
          </c:cat>
          <c:val>
            <c:numRef>
              <c:f>'TimeViewership by Race'!$D$2:$D$6</c:f>
              <c:numCache>
                <c:formatCode>General</c:formatCode>
                <c:ptCount val="5"/>
                <c:pt idx="0">
                  <c:v>1.3580000000000001</c:v>
                </c:pt>
                <c:pt idx="1">
                  <c:v>312</c:v>
                </c:pt>
                <c:pt idx="2">
                  <c:v>446</c:v>
                </c:pt>
                <c:pt idx="3">
                  <c:v>279</c:v>
                </c:pt>
                <c:pt idx="4">
                  <c:v>28</c:v>
                </c:pt>
              </c:numCache>
            </c:numRef>
          </c:val>
          <c:extLst>
            <c:ext xmlns:c16="http://schemas.microsoft.com/office/drawing/2014/chart" uri="{C3380CC4-5D6E-409C-BE32-E72D297353CC}">
              <c16:uniqueId val="{00000002-3AE6-4BBA-AF9E-2BC543F1CDC0}"/>
            </c:ext>
          </c:extLst>
        </c:ser>
        <c:ser>
          <c:idx val="3"/>
          <c:order val="3"/>
          <c:tx>
            <c:strRef>
              <c:f>'TimeViewership by Race'!$E$1</c:f>
              <c:strCache>
                <c:ptCount val="1"/>
                <c:pt idx="0">
                  <c:v>Night</c:v>
                </c:pt>
              </c:strCache>
            </c:strRef>
          </c:tx>
          <c:spPr>
            <a:solidFill>
              <a:schemeClr val="accent4"/>
            </a:solidFill>
            <a:ln>
              <a:noFill/>
            </a:ln>
            <a:effectLst/>
          </c:spPr>
          <c:invertIfNegative val="0"/>
          <c:cat>
            <c:strRef>
              <c:f>'TimeViewership by Race'!$A$2:$A$6</c:f>
              <c:strCache>
                <c:ptCount val="5"/>
                <c:pt idx="0">
                  <c:v>Black</c:v>
                </c:pt>
                <c:pt idx="1">
                  <c:v>Indian/Asian</c:v>
                </c:pt>
                <c:pt idx="2">
                  <c:v>Coloured</c:v>
                </c:pt>
                <c:pt idx="3">
                  <c:v>White</c:v>
                </c:pt>
                <c:pt idx="4">
                  <c:v>Other</c:v>
                </c:pt>
              </c:strCache>
            </c:strRef>
          </c:cat>
          <c:val>
            <c:numRef>
              <c:f>'TimeViewership by Race'!$E$2:$E$6</c:f>
              <c:numCache>
                <c:formatCode>General</c:formatCode>
                <c:ptCount val="5"/>
                <c:pt idx="0">
                  <c:v>509</c:v>
                </c:pt>
                <c:pt idx="1">
                  <c:v>100</c:v>
                </c:pt>
                <c:pt idx="2">
                  <c:v>188</c:v>
                </c:pt>
                <c:pt idx="3">
                  <c:v>119</c:v>
                </c:pt>
                <c:pt idx="4">
                  <c:v>10</c:v>
                </c:pt>
              </c:numCache>
            </c:numRef>
          </c:val>
          <c:extLst>
            <c:ext xmlns:c16="http://schemas.microsoft.com/office/drawing/2014/chart" uri="{C3380CC4-5D6E-409C-BE32-E72D297353CC}">
              <c16:uniqueId val="{00000003-3AE6-4BBA-AF9E-2BC543F1CDC0}"/>
            </c:ext>
          </c:extLst>
        </c:ser>
        <c:dLbls>
          <c:showLegendKey val="0"/>
          <c:showVal val="0"/>
          <c:showCatName val="0"/>
          <c:showSerName val="0"/>
          <c:showPercent val="0"/>
          <c:showBubbleSize val="0"/>
        </c:dLbls>
        <c:gapWidth val="219"/>
        <c:overlap val="-27"/>
        <c:axId val="1863744767"/>
        <c:axId val="1863752927"/>
      </c:barChart>
      <c:catAx>
        <c:axId val="18637447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3752927"/>
        <c:crosses val="autoZero"/>
        <c:auto val="1"/>
        <c:lblAlgn val="ctr"/>
        <c:lblOffset val="100"/>
        <c:noMultiLvlLbl val="0"/>
      </c:catAx>
      <c:valAx>
        <c:axId val="18637529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637447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'C:\Users\zakes.khotlele\Downloads\[Chart_Data_Province_vs_Time (1).csv]Primetime by Province'!$A$2</c:f>
              <c:strCache>
                <c:ptCount val="1"/>
                <c:pt idx="0">
                  <c:v>Afternoon</c:v>
                </c:pt>
              </c:strCache>
            </c:strRef>
          </c:tx>
          <c:spPr>
            <a:solidFill>
              <a:schemeClr val="accent1"/>
            </a:solidFill>
            <a:ln>
              <a:noFill/>
            </a:ln>
            <a:effectLst/>
          </c:spPr>
          <c:invertIfNegative val="0"/>
          <c:cat>
            <c:strRef>
              <c:f>'[2]Primetime by Province'!$B$1:$K$1</c:f>
              <c:strCache>
                <c:ptCount val="10"/>
                <c:pt idx="0">
                  <c:v>Unknown</c:v>
                </c:pt>
                <c:pt idx="1">
                  <c:v>eastern cape</c:v>
                </c:pt>
                <c:pt idx="2">
                  <c:v>free state</c:v>
                </c:pt>
                <c:pt idx="3">
                  <c:v>gauteng</c:v>
                </c:pt>
                <c:pt idx="4">
                  <c:v>kwazulu natal</c:v>
                </c:pt>
                <c:pt idx="5">
                  <c:v>limpopo</c:v>
                </c:pt>
                <c:pt idx="6">
                  <c:v>mpumalanga</c:v>
                </c:pt>
                <c:pt idx="7">
                  <c:v>north west</c:v>
                </c:pt>
                <c:pt idx="8">
                  <c:v>northern cape</c:v>
                </c:pt>
                <c:pt idx="9">
                  <c:v>western cape</c:v>
                </c:pt>
              </c:strCache>
            </c:strRef>
          </c:cat>
          <c:val>
            <c:numRef>
              <c:f>'[2]Primetime by Province'!$B$2:$K$2</c:f>
              <c:numCache>
                <c:formatCode>General</c:formatCode>
                <c:ptCount val="10"/>
                <c:pt idx="0">
                  <c:v>70</c:v>
                </c:pt>
                <c:pt idx="1">
                  <c:v>205</c:v>
                </c:pt>
                <c:pt idx="2">
                  <c:v>91</c:v>
                </c:pt>
                <c:pt idx="3">
                  <c:v>1145</c:v>
                </c:pt>
                <c:pt idx="4">
                  <c:v>332</c:v>
                </c:pt>
                <c:pt idx="5">
                  <c:v>235</c:v>
                </c:pt>
                <c:pt idx="6">
                  <c:v>297</c:v>
                </c:pt>
                <c:pt idx="7">
                  <c:v>109</c:v>
                </c:pt>
                <c:pt idx="8">
                  <c:v>78</c:v>
                </c:pt>
                <c:pt idx="9">
                  <c:v>598</c:v>
                </c:pt>
              </c:numCache>
            </c:numRef>
          </c:val>
          <c:extLst>
            <c:ext xmlns:c16="http://schemas.microsoft.com/office/drawing/2014/chart" uri="{C3380CC4-5D6E-409C-BE32-E72D297353CC}">
              <c16:uniqueId val="{00000000-CB1A-44DF-9E95-5BF4091FC04C}"/>
            </c:ext>
          </c:extLst>
        </c:ser>
        <c:ser>
          <c:idx val="1"/>
          <c:order val="1"/>
          <c:tx>
            <c:strRef>
              <c:f>'C:\Users\zakes.khotlele\Downloads\[Chart_Data_Province_vs_Time (1).csv]Primetime by Province'!$A$3</c:f>
              <c:strCache>
                <c:ptCount val="1"/>
                <c:pt idx="0">
                  <c:v>Evening/Prime</c:v>
                </c:pt>
              </c:strCache>
            </c:strRef>
          </c:tx>
          <c:spPr>
            <a:solidFill>
              <a:schemeClr val="accent2"/>
            </a:solidFill>
            <a:ln>
              <a:noFill/>
            </a:ln>
            <a:effectLst/>
          </c:spPr>
          <c:invertIfNegative val="0"/>
          <c:cat>
            <c:strRef>
              <c:f>'[2]Primetime by Province'!$B$1:$K$1</c:f>
              <c:strCache>
                <c:ptCount val="10"/>
                <c:pt idx="0">
                  <c:v>Unknown</c:v>
                </c:pt>
                <c:pt idx="1">
                  <c:v>eastern cape</c:v>
                </c:pt>
                <c:pt idx="2">
                  <c:v>free state</c:v>
                </c:pt>
                <c:pt idx="3">
                  <c:v>gauteng</c:v>
                </c:pt>
                <c:pt idx="4">
                  <c:v>kwazulu natal</c:v>
                </c:pt>
                <c:pt idx="5">
                  <c:v>limpopo</c:v>
                </c:pt>
                <c:pt idx="6">
                  <c:v>mpumalanga</c:v>
                </c:pt>
                <c:pt idx="7">
                  <c:v>north west</c:v>
                </c:pt>
                <c:pt idx="8">
                  <c:v>northern cape</c:v>
                </c:pt>
                <c:pt idx="9">
                  <c:v>western cape</c:v>
                </c:pt>
              </c:strCache>
            </c:strRef>
          </c:cat>
          <c:val>
            <c:numRef>
              <c:f>'[2]Primetime by Province'!$B$3:$K$3</c:f>
              <c:numCache>
                <c:formatCode>General</c:formatCode>
                <c:ptCount val="10"/>
                <c:pt idx="0">
                  <c:v>72</c:v>
                </c:pt>
                <c:pt idx="1">
                  <c:v>176</c:v>
                </c:pt>
                <c:pt idx="2">
                  <c:v>90</c:v>
                </c:pt>
                <c:pt idx="3">
                  <c:v>990</c:v>
                </c:pt>
                <c:pt idx="4">
                  <c:v>265</c:v>
                </c:pt>
                <c:pt idx="5">
                  <c:v>191</c:v>
                </c:pt>
                <c:pt idx="6">
                  <c:v>249</c:v>
                </c:pt>
                <c:pt idx="7">
                  <c:v>92</c:v>
                </c:pt>
                <c:pt idx="8">
                  <c:v>63</c:v>
                </c:pt>
                <c:pt idx="9">
                  <c:v>528</c:v>
                </c:pt>
              </c:numCache>
            </c:numRef>
          </c:val>
          <c:extLst>
            <c:ext xmlns:c16="http://schemas.microsoft.com/office/drawing/2014/chart" uri="{C3380CC4-5D6E-409C-BE32-E72D297353CC}">
              <c16:uniqueId val="{00000001-CB1A-44DF-9E95-5BF4091FC04C}"/>
            </c:ext>
          </c:extLst>
        </c:ser>
        <c:ser>
          <c:idx val="2"/>
          <c:order val="2"/>
          <c:tx>
            <c:strRef>
              <c:f>'C:\Users\zakes.khotlele\Downloads\[Chart_Data_Province_vs_Time (1).csv]Primetime by Province'!$A$4</c:f>
              <c:strCache>
                <c:ptCount val="1"/>
                <c:pt idx="0">
                  <c:v>Morning</c:v>
                </c:pt>
              </c:strCache>
            </c:strRef>
          </c:tx>
          <c:spPr>
            <a:solidFill>
              <a:schemeClr val="accent3"/>
            </a:solidFill>
            <a:ln>
              <a:noFill/>
            </a:ln>
            <a:effectLst/>
          </c:spPr>
          <c:invertIfNegative val="0"/>
          <c:cat>
            <c:strRef>
              <c:f>'[2]Primetime by Province'!$B$1:$K$1</c:f>
              <c:strCache>
                <c:ptCount val="10"/>
                <c:pt idx="0">
                  <c:v>Unknown</c:v>
                </c:pt>
                <c:pt idx="1">
                  <c:v>eastern cape</c:v>
                </c:pt>
                <c:pt idx="2">
                  <c:v>free state</c:v>
                </c:pt>
                <c:pt idx="3">
                  <c:v>gauteng</c:v>
                </c:pt>
                <c:pt idx="4">
                  <c:v>kwazulu natal</c:v>
                </c:pt>
                <c:pt idx="5">
                  <c:v>limpopo</c:v>
                </c:pt>
                <c:pt idx="6">
                  <c:v>mpumalanga</c:v>
                </c:pt>
                <c:pt idx="7">
                  <c:v>north west</c:v>
                </c:pt>
                <c:pt idx="8">
                  <c:v>northern cape</c:v>
                </c:pt>
                <c:pt idx="9">
                  <c:v>western cape</c:v>
                </c:pt>
              </c:strCache>
            </c:strRef>
          </c:cat>
          <c:val>
            <c:numRef>
              <c:f>'[2]Primetime by Province'!$B$4:$K$4</c:f>
              <c:numCache>
                <c:formatCode>General</c:formatCode>
                <c:ptCount val="10"/>
                <c:pt idx="0">
                  <c:v>85</c:v>
                </c:pt>
                <c:pt idx="1">
                  <c:v>221</c:v>
                </c:pt>
                <c:pt idx="2">
                  <c:v>87</c:v>
                </c:pt>
                <c:pt idx="3">
                  <c:v>1136</c:v>
                </c:pt>
                <c:pt idx="4">
                  <c:v>300</c:v>
                </c:pt>
                <c:pt idx="5">
                  <c:v>258</c:v>
                </c:pt>
                <c:pt idx="6">
                  <c:v>283</c:v>
                </c:pt>
                <c:pt idx="7">
                  <c:v>108</c:v>
                </c:pt>
                <c:pt idx="8">
                  <c:v>66</c:v>
                </c:pt>
                <c:pt idx="9">
                  <c:v>541</c:v>
                </c:pt>
              </c:numCache>
            </c:numRef>
          </c:val>
          <c:extLst>
            <c:ext xmlns:c16="http://schemas.microsoft.com/office/drawing/2014/chart" uri="{C3380CC4-5D6E-409C-BE32-E72D297353CC}">
              <c16:uniqueId val="{00000002-CB1A-44DF-9E95-5BF4091FC04C}"/>
            </c:ext>
          </c:extLst>
        </c:ser>
        <c:ser>
          <c:idx val="3"/>
          <c:order val="3"/>
          <c:tx>
            <c:strRef>
              <c:f>'C:\Users\zakes.khotlele\Downloads\[Chart_Data_Province_vs_Time (1).csv]Primetime by Province'!$A$5</c:f>
              <c:strCache>
                <c:ptCount val="1"/>
                <c:pt idx="0">
                  <c:v>Night</c:v>
                </c:pt>
              </c:strCache>
            </c:strRef>
          </c:tx>
          <c:spPr>
            <a:solidFill>
              <a:schemeClr val="accent4"/>
            </a:solidFill>
            <a:ln>
              <a:noFill/>
            </a:ln>
            <a:effectLst/>
          </c:spPr>
          <c:invertIfNegative val="0"/>
          <c:cat>
            <c:strRef>
              <c:f>'[2]Primetime by Province'!$B$1:$K$1</c:f>
              <c:strCache>
                <c:ptCount val="10"/>
                <c:pt idx="0">
                  <c:v>Unknown</c:v>
                </c:pt>
                <c:pt idx="1">
                  <c:v>eastern cape</c:v>
                </c:pt>
                <c:pt idx="2">
                  <c:v>free state</c:v>
                </c:pt>
                <c:pt idx="3">
                  <c:v>gauteng</c:v>
                </c:pt>
                <c:pt idx="4">
                  <c:v>kwazulu natal</c:v>
                </c:pt>
                <c:pt idx="5">
                  <c:v>limpopo</c:v>
                </c:pt>
                <c:pt idx="6">
                  <c:v>mpumalanga</c:v>
                </c:pt>
                <c:pt idx="7">
                  <c:v>north west</c:v>
                </c:pt>
                <c:pt idx="8">
                  <c:v>northern cape</c:v>
                </c:pt>
                <c:pt idx="9">
                  <c:v>western cape</c:v>
                </c:pt>
              </c:strCache>
            </c:strRef>
          </c:cat>
          <c:val>
            <c:numRef>
              <c:f>'[2]Primetime by Province'!$B$5:$K$5</c:f>
              <c:numCache>
                <c:formatCode>General</c:formatCode>
                <c:ptCount val="10"/>
                <c:pt idx="0">
                  <c:v>36</c:v>
                </c:pt>
                <c:pt idx="1">
                  <c:v>88</c:v>
                </c:pt>
                <c:pt idx="2">
                  <c:v>24</c:v>
                </c:pt>
                <c:pt idx="3">
                  <c:v>383</c:v>
                </c:pt>
                <c:pt idx="4">
                  <c:v>104</c:v>
                </c:pt>
                <c:pt idx="5">
                  <c:v>79</c:v>
                </c:pt>
                <c:pt idx="6">
                  <c:v>89</c:v>
                </c:pt>
                <c:pt idx="7">
                  <c:v>35</c:v>
                </c:pt>
                <c:pt idx="8">
                  <c:v>23</c:v>
                </c:pt>
                <c:pt idx="9">
                  <c:v>178</c:v>
                </c:pt>
              </c:numCache>
            </c:numRef>
          </c:val>
          <c:extLst>
            <c:ext xmlns:c16="http://schemas.microsoft.com/office/drawing/2014/chart" uri="{C3380CC4-5D6E-409C-BE32-E72D297353CC}">
              <c16:uniqueId val="{00000003-CB1A-44DF-9E95-5BF4091FC04C}"/>
            </c:ext>
          </c:extLst>
        </c:ser>
        <c:ser>
          <c:idx val="4"/>
          <c:order val="4"/>
          <c:tx>
            <c:strRef>
              <c:f>'C:\Users\zakes.khotlele\Downloads\[Chart_Data_Province_vs_Time (1).csv]Primetime by Province'!$A$6</c:f>
              <c:strCache>
                <c:ptCount val="1"/>
                <c:pt idx="0">
                  <c:v>Unknown</c:v>
                </c:pt>
              </c:strCache>
            </c:strRef>
          </c:tx>
          <c:spPr>
            <a:solidFill>
              <a:schemeClr val="accent5"/>
            </a:solidFill>
            <a:ln>
              <a:noFill/>
            </a:ln>
            <a:effectLst/>
          </c:spPr>
          <c:invertIfNegative val="0"/>
          <c:cat>
            <c:strRef>
              <c:f>'[2]Primetime by Province'!$B$1:$K$1</c:f>
              <c:strCache>
                <c:ptCount val="10"/>
                <c:pt idx="0">
                  <c:v>Unknown</c:v>
                </c:pt>
                <c:pt idx="1">
                  <c:v>eastern cape</c:v>
                </c:pt>
                <c:pt idx="2">
                  <c:v>free state</c:v>
                </c:pt>
                <c:pt idx="3">
                  <c:v>gauteng</c:v>
                </c:pt>
                <c:pt idx="4">
                  <c:v>kwazulu natal</c:v>
                </c:pt>
                <c:pt idx="5">
                  <c:v>limpopo</c:v>
                </c:pt>
                <c:pt idx="6">
                  <c:v>mpumalanga</c:v>
                </c:pt>
                <c:pt idx="7">
                  <c:v>north west</c:v>
                </c:pt>
                <c:pt idx="8">
                  <c:v>northern cape</c:v>
                </c:pt>
                <c:pt idx="9">
                  <c:v>western cape</c:v>
                </c:pt>
              </c:strCache>
            </c:strRef>
          </c:cat>
          <c:val>
            <c:numRef>
              <c:f>'[2]Primetime by Province'!$B$6:$K$6</c:f>
              <c:numCache>
                <c:formatCode>General</c:formatCode>
                <c:ptCount val="10"/>
                <c:pt idx="0">
                  <c:v>526</c:v>
                </c:pt>
                <c:pt idx="1">
                  <c:v>16</c:v>
                </c:pt>
                <c:pt idx="2">
                  <c:v>9</c:v>
                </c:pt>
                <c:pt idx="3">
                  <c:v>97</c:v>
                </c:pt>
                <c:pt idx="4">
                  <c:v>33</c:v>
                </c:pt>
                <c:pt idx="5">
                  <c:v>26</c:v>
                </c:pt>
                <c:pt idx="6">
                  <c:v>30</c:v>
                </c:pt>
                <c:pt idx="7">
                  <c:v>9</c:v>
                </c:pt>
                <c:pt idx="8">
                  <c:v>4</c:v>
                </c:pt>
                <c:pt idx="9">
                  <c:v>21</c:v>
                </c:pt>
              </c:numCache>
            </c:numRef>
          </c:val>
          <c:extLst>
            <c:ext xmlns:c16="http://schemas.microsoft.com/office/drawing/2014/chart" uri="{C3380CC4-5D6E-409C-BE32-E72D297353CC}">
              <c16:uniqueId val="{00000004-CB1A-44DF-9E95-5BF4091FC04C}"/>
            </c:ext>
          </c:extLst>
        </c:ser>
        <c:dLbls>
          <c:showLegendKey val="0"/>
          <c:showVal val="0"/>
          <c:showCatName val="0"/>
          <c:showSerName val="0"/>
          <c:showPercent val="0"/>
          <c:showBubbleSize val="0"/>
        </c:dLbls>
        <c:gapWidth val="219"/>
        <c:overlap val="-27"/>
        <c:axId val="1547778543"/>
        <c:axId val="1547777103"/>
      </c:barChart>
      <c:catAx>
        <c:axId val="15477785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7777103"/>
        <c:crosses val="autoZero"/>
        <c:auto val="1"/>
        <c:lblAlgn val="ctr"/>
        <c:lblOffset val="100"/>
        <c:noMultiLvlLbl val="0"/>
      </c:catAx>
      <c:valAx>
        <c:axId val="15477771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777854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ZA"/>
              <a:t>Engagement Trends</a:t>
            </a:r>
          </a:p>
        </c:rich>
      </c:tx>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lotArea>
      <c:layout/>
      <c:lineChart>
        <c:grouping val="standard"/>
        <c:varyColors val="0"/>
        <c:ser>
          <c:idx val="0"/>
          <c:order val="0"/>
          <c:tx>
            <c:strRef>
              <c:f>'C:\Users\zakes.khotlele\Downloads\[Biz_Question_Weekly_Engagement.csv]Biz_Question_Weekly_Engagement'!$B$1</c:f>
              <c:strCache>
                <c:ptCount val="1"/>
                <c:pt idx="0">
                  <c:v>Afternoon</c:v>
                </c:pt>
              </c:strCache>
            </c:strRef>
          </c:tx>
          <c:spPr>
            <a:ln w="38100" cap="rnd">
              <a:solidFill>
                <a:schemeClr val="accent1"/>
              </a:solidFill>
              <a:round/>
            </a:ln>
            <a:effectLst/>
          </c:spPr>
          <c:marker>
            <c:symbol val="none"/>
          </c:marker>
          <c:cat>
            <c:strRef>
              <c:f>[3]Biz_Question_Weekly_Engagement!$A$2:$A$8</c:f>
              <c:strCache>
                <c:ptCount val="7"/>
                <c:pt idx="0">
                  <c:v>Mon</c:v>
                </c:pt>
                <c:pt idx="1">
                  <c:v>Tue</c:v>
                </c:pt>
                <c:pt idx="2">
                  <c:v>Wed</c:v>
                </c:pt>
                <c:pt idx="3">
                  <c:v>Thu</c:v>
                </c:pt>
                <c:pt idx="4">
                  <c:v>Fri</c:v>
                </c:pt>
                <c:pt idx="5">
                  <c:v>Sat</c:v>
                </c:pt>
                <c:pt idx="6">
                  <c:v>Sun</c:v>
                </c:pt>
              </c:strCache>
            </c:strRef>
          </c:cat>
          <c:val>
            <c:numRef>
              <c:f>[3]Biz_Question_Weekly_Engagement!$B$2:$B$8</c:f>
              <c:numCache>
                <c:formatCode>General</c:formatCode>
                <c:ptCount val="7"/>
                <c:pt idx="0">
                  <c:v>144056</c:v>
                </c:pt>
                <c:pt idx="1">
                  <c:v>264834</c:v>
                </c:pt>
                <c:pt idx="2">
                  <c:v>343008</c:v>
                </c:pt>
                <c:pt idx="3">
                  <c:v>277140</c:v>
                </c:pt>
                <c:pt idx="4">
                  <c:v>359661</c:v>
                </c:pt>
                <c:pt idx="5">
                  <c:v>409062</c:v>
                </c:pt>
                <c:pt idx="6">
                  <c:v>231837</c:v>
                </c:pt>
              </c:numCache>
            </c:numRef>
          </c:val>
          <c:smooth val="0"/>
          <c:extLst>
            <c:ext xmlns:c16="http://schemas.microsoft.com/office/drawing/2014/chart" uri="{C3380CC4-5D6E-409C-BE32-E72D297353CC}">
              <c16:uniqueId val="{00000000-40B7-4C7B-A7AF-262930E95B9A}"/>
            </c:ext>
          </c:extLst>
        </c:ser>
        <c:ser>
          <c:idx val="1"/>
          <c:order val="1"/>
          <c:tx>
            <c:strRef>
              <c:f>'C:\Users\zakes.khotlele\Downloads\[Biz_Question_Weekly_Engagement.csv]Biz_Question_Weekly_Engagement'!$C$1</c:f>
              <c:strCache>
                <c:ptCount val="1"/>
                <c:pt idx="0">
                  <c:v>Evening/Prime</c:v>
                </c:pt>
              </c:strCache>
            </c:strRef>
          </c:tx>
          <c:spPr>
            <a:ln w="38100" cap="rnd">
              <a:solidFill>
                <a:schemeClr val="accent2"/>
              </a:solidFill>
              <a:round/>
            </a:ln>
            <a:effectLst/>
          </c:spPr>
          <c:marker>
            <c:symbol val="none"/>
          </c:marker>
          <c:cat>
            <c:strRef>
              <c:f>[3]Biz_Question_Weekly_Engagement!$A$2:$A$8</c:f>
              <c:strCache>
                <c:ptCount val="7"/>
                <c:pt idx="0">
                  <c:v>Mon</c:v>
                </c:pt>
                <c:pt idx="1">
                  <c:v>Tue</c:v>
                </c:pt>
                <c:pt idx="2">
                  <c:v>Wed</c:v>
                </c:pt>
                <c:pt idx="3">
                  <c:v>Thu</c:v>
                </c:pt>
                <c:pt idx="4">
                  <c:v>Fri</c:v>
                </c:pt>
                <c:pt idx="5">
                  <c:v>Sat</c:v>
                </c:pt>
                <c:pt idx="6">
                  <c:v>Sun</c:v>
                </c:pt>
              </c:strCache>
            </c:strRef>
          </c:cat>
          <c:val>
            <c:numRef>
              <c:f>[3]Biz_Question_Weekly_Engagement!$C$2:$C$8</c:f>
              <c:numCache>
                <c:formatCode>General</c:formatCode>
                <c:ptCount val="7"/>
                <c:pt idx="0">
                  <c:v>83208</c:v>
                </c:pt>
                <c:pt idx="1">
                  <c:v>182769</c:v>
                </c:pt>
                <c:pt idx="2">
                  <c:v>144385</c:v>
                </c:pt>
                <c:pt idx="3">
                  <c:v>176016</c:v>
                </c:pt>
                <c:pt idx="4">
                  <c:v>246988</c:v>
                </c:pt>
                <c:pt idx="5">
                  <c:v>236225</c:v>
                </c:pt>
                <c:pt idx="6">
                  <c:v>162685</c:v>
                </c:pt>
              </c:numCache>
            </c:numRef>
          </c:val>
          <c:smooth val="0"/>
          <c:extLst>
            <c:ext xmlns:c16="http://schemas.microsoft.com/office/drawing/2014/chart" uri="{C3380CC4-5D6E-409C-BE32-E72D297353CC}">
              <c16:uniqueId val="{00000001-40B7-4C7B-A7AF-262930E95B9A}"/>
            </c:ext>
          </c:extLst>
        </c:ser>
        <c:ser>
          <c:idx val="2"/>
          <c:order val="2"/>
          <c:tx>
            <c:strRef>
              <c:f>'C:\Users\zakes.khotlele\Downloads\[Biz_Question_Weekly_Engagement.csv]Biz_Question_Weekly_Engagement'!$D$1</c:f>
              <c:strCache>
                <c:ptCount val="1"/>
                <c:pt idx="0">
                  <c:v>Morning</c:v>
                </c:pt>
              </c:strCache>
            </c:strRef>
          </c:tx>
          <c:spPr>
            <a:ln w="38100" cap="rnd">
              <a:solidFill>
                <a:schemeClr val="accent3"/>
              </a:solidFill>
              <a:round/>
            </a:ln>
            <a:effectLst/>
          </c:spPr>
          <c:marker>
            <c:symbol val="none"/>
          </c:marker>
          <c:cat>
            <c:strRef>
              <c:f>[3]Biz_Question_Weekly_Engagement!$A$2:$A$8</c:f>
              <c:strCache>
                <c:ptCount val="7"/>
                <c:pt idx="0">
                  <c:v>Mon</c:v>
                </c:pt>
                <c:pt idx="1">
                  <c:v>Tue</c:v>
                </c:pt>
                <c:pt idx="2">
                  <c:v>Wed</c:v>
                </c:pt>
                <c:pt idx="3">
                  <c:v>Thu</c:v>
                </c:pt>
                <c:pt idx="4">
                  <c:v>Fri</c:v>
                </c:pt>
                <c:pt idx="5">
                  <c:v>Sat</c:v>
                </c:pt>
                <c:pt idx="6">
                  <c:v>Sun</c:v>
                </c:pt>
              </c:strCache>
            </c:strRef>
          </c:cat>
          <c:val>
            <c:numRef>
              <c:f>[3]Biz_Question_Weekly_Engagement!$D$2:$D$8</c:f>
              <c:numCache>
                <c:formatCode>General</c:formatCode>
                <c:ptCount val="7"/>
                <c:pt idx="0">
                  <c:v>123307</c:v>
                </c:pt>
                <c:pt idx="1">
                  <c:v>201916</c:v>
                </c:pt>
                <c:pt idx="2">
                  <c:v>302034</c:v>
                </c:pt>
                <c:pt idx="3">
                  <c:v>290769</c:v>
                </c:pt>
                <c:pt idx="4">
                  <c:v>225220</c:v>
                </c:pt>
                <c:pt idx="5">
                  <c:v>327787</c:v>
                </c:pt>
                <c:pt idx="6">
                  <c:v>234668</c:v>
                </c:pt>
              </c:numCache>
            </c:numRef>
          </c:val>
          <c:smooth val="0"/>
          <c:extLst>
            <c:ext xmlns:c16="http://schemas.microsoft.com/office/drawing/2014/chart" uri="{C3380CC4-5D6E-409C-BE32-E72D297353CC}">
              <c16:uniqueId val="{00000002-40B7-4C7B-A7AF-262930E95B9A}"/>
            </c:ext>
          </c:extLst>
        </c:ser>
        <c:ser>
          <c:idx val="3"/>
          <c:order val="3"/>
          <c:tx>
            <c:strRef>
              <c:f>'C:\Users\zakes.khotlele\Downloads\[Biz_Question_Weekly_Engagement.csv]Biz_Question_Weekly_Engagement'!$E$1</c:f>
              <c:strCache>
                <c:ptCount val="1"/>
                <c:pt idx="0">
                  <c:v>Night</c:v>
                </c:pt>
              </c:strCache>
            </c:strRef>
          </c:tx>
          <c:spPr>
            <a:ln w="38100" cap="rnd">
              <a:solidFill>
                <a:schemeClr val="accent4"/>
              </a:solidFill>
              <a:round/>
            </a:ln>
            <a:effectLst/>
          </c:spPr>
          <c:marker>
            <c:symbol val="none"/>
          </c:marker>
          <c:cat>
            <c:strRef>
              <c:f>[3]Biz_Question_Weekly_Engagement!$A$2:$A$8</c:f>
              <c:strCache>
                <c:ptCount val="7"/>
                <c:pt idx="0">
                  <c:v>Mon</c:v>
                </c:pt>
                <c:pt idx="1">
                  <c:v>Tue</c:v>
                </c:pt>
                <c:pt idx="2">
                  <c:v>Wed</c:v>
                </c:pt>
                <c:pt idx="3">
                  <c:v>Thu</c:v>
                </c:pt>
                <c:pt idx="4">
                  <c:v>Fri</c:v>
                </c:pt>
                <c:pt idx="5">
                  <c:v>Sat</c:v>
                </c:pt>
                <c:pt idx="6">
                  <c:v>Sun</c:v>
                </c:pt>
              </c:strCache>
            </c:strRef>
          </c:cat>
          <c:val>
            <c:numRef>
              <c:f>[3]Biz_Question_Weekly_Engagement!$E$2:$E$8</c:f>
              <c:numCache>
                <c:formatCode>General</c:formatCode>
                <c:ptCount val="7"/>
                <c:pt idx="0">
                  <c:v>72919</c:v>
                </c:pt>
                <c:pt idx="1">
                  <c:v>69178</c:v>
                </c:pt>
                <c:pt idx="2">
                  <c:v>55099</c:v>
                </c:pt>
                <c:pt idx="3">
                  <c:v>93951</c:v>
                </c:pt>
                <c:pt idx="4">
                  <c:v>66444</c:v>
                </c:pt>
                <c:pt idx="5">
                  <c:v>103660</c:v>
                </c:pt>
                <c:pt idx="6">
                  <c:v>53977</c:v>
                </c:pt>
              </c:numCache>
            </c:numRef>
          </c:val>
          <c:smooth val="0"/>
          <c:extLst>
            <c:ext xmlns:c16="http://schemas.microsoft.com/office/drawing/2014/chart" uri="{C3380CC4-5D6E-409C-BE32-E72D297353CC}">
              <c16:uniqueId val="{00000003-40B7-4C7B-A7AF-262930E95B9A}"/>
            </c:ext>
          </c:extLst>
        </c:ser>
        <c:dLbls>
          <c:showLegendKey val="0"/>
          <c:showVal val="0"/>
          <c:showCatName val="0"/>
          <c:showSerName val="0"/>
          <c:showPercent val="0"/>
          <c:showBubbleSize val="0"/>
        </c:dLbls>
        <c:smooth val="0"/>
        <c:axId val="919888943"/>
        <c:axId val="919889423"/>
      </c:lineChart>
      <c:catAx>
        <c:axId val="9198889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919889423"/>
        <c:crosses val="autoZero"/>
        <c:auto val="1"/>
        <c:lblAlgn val="ctr"/>
        <c:lblOffset val="100"/>
        <c:noMultiLvlLbl val="0"/>
      </c:catAx>
      <c:valAx>
        <c:axId val="91988942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88894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r>
              <a:rPr lang="en-ZA"/>
              <a:t>ChANNEL</a:t>
            </a:r>
            <a:r>
              <a:rPr lang="en-ZA" baseline="0"/>
              <a:t> VIEW BY AGE COHORT</a:t>
            </a:r>
            <a:endParaRPr lang="en-ZA"/>
          </a:p>
        </c:rich>
      </c:tx>
      <c:overlay val="0"/>
      <c:spPr>
        <a:noFill/>
        <a:ln>
          <a:noFill/>
        </a:ln>
        <a:effectLst/>
      </c:spPr>
      <c:txPr>
        <a:bodyPr rot="0" spcFirstLastPara="1" vertOverflow="ellipsis" vert="horz" wrap="square" anchor="ctr" anchorCtr="1"/>
        <a:lstStyle/>
        <a:p>
          <a:pPr>
            <a:defRPr sz="1800" b="1" i="0" u="none" strike="noStrike" kern="1200" cap="all" spc="50" baseline="0">
              <a:solidFill>
                <a:schemeClr val="tx1">
                  <a:lumMod val="65000"/>
                  <a:lumOff val="35000"/>
                </a:schemeClr>
              </a:solidFill>
              <a:latin typeface="+mn-lt"/>
              <a:ea typeface="+mn-ea"/>
              <a:cs typeface="+mn-cs"/>
            </a:defRPr>
          </a:pPr>
          <a:endParaRPr lang="en-ZA"/>
        </a:p>
      </c:txPr>
    </c:title>
    <c:autoTitleDeleted val="0"/>
    <c:plotArea>
      <c:layout>
        <c:manualLayout>
          <c:layoutTarget val="inner"/>
          <c:xMode val="edge"/>
          <c:yMode val="edge"/>
          <c:x val="7.3266123954637372E-2"/>
          <c:y val="0.1252039627039627"/>
          <c:w val="0.9094870902190848"/>
          <c:h val="0.56498242571077217"/>
        </c:manualLayout>
      </c:layout>
      <c:barChart>
        <c:barDir val="col"/>
        <c:grouping val="stacked"/>
        <c:varyColors val="0"/>
        <c:ser>
          <c:idx val="0"/>
          <c:order val="0"/>
          <c:tx>
            <c:strRef>
              <c:f>'ChannelViews by AgeCohort'!$B$1</c:f>
              <c:strCache>
                <c:ptCount val="1"/>
                <c:pt idx="0">
                  <c:v>Kids</c:v>
                </c:pt>
              </c:strCache>
            </c:strRef>
          </c:tx>
          <c:spPr>
            <a:solidFill>
              <a:schemeClr val="accent1">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AgeCohort'!$B$2:$B$21</c:f>
              <c:numCache>
                <c:formatCode>General</c:formatCode>
                <c:ptCount val="20"/>
                <c:pt idx="0">
                  <c:v>499</c:v>
                </c:pt>
                <c:pt idx="1">
                  <c:v>595</c:v>
                </c:pt>
                <c:pt idx="2">
                  <c:v>0</c:v>
                </c:pt>
                <c:pt idx="3">
                  <c:v>117</c:v>
                </c:pt>
                <c:pt idx="4">
                  <c:v>5061</c:v>
                </c:pt>
                <c:pt idx="5">
                  <c:v>141</c:v>
                </c:pt>
                <c:pt idx="6">
                  <c:v>165</c:v>
                </c:pt>
                <c:pt idx="7">
                  <c:v>620</c:v>
                </c:pt>
                <c:pt idx="8">
                  <c:v>40056</c:v>
                </c:pt>
                <c:pt idx="9">
                  <c:v>0</c:v>
                </c:pt>
                <c:pt idx="10">
                  <c:v>0</c:v>
                </c:pt>
                <c:pt idx="11">
                  <c:v>203</c:v>
                </c:pt>
                <c:pt idx="12">
                  <c:v>42</c:v>
                </c:pt>
                <c:pt idx="13">
                  <c:v>221</c:v>
                </c:pt>
                <c:pt idx="14">
                  <c:v>1496</c:v>
                </c:pt>
                <c:pt idx="15">
                  <c:v>5204</c:v>
                </c:pt>
                <c:pt idx="16">
                  <c:v>11586</c:v>
                </c:pt>
                <c:pt idx="17">
                  <c:v>0</c:v>
                </c:pt>
                <c:pt idx="18">
                  <c:v>0</c:v>
                </c:pt>
                <c:pt idx="19">
                  <c:v>0</c:v>
                </c:pt>
              </c:numCache>
            </c:numRef>
          </c:val>
          <c:extLst>
            <c:ext xmlns:c16="http://schemas.microsoft.com/office/drawing/2014/chart" uri="{C3380CC4-5D6E-409C-BE32-E72D297353CC}">
              <c16:uniqueId val="{00000000-04A0-41E8-BB31-C7E0016B94D6}"/>
            </c:ext>
          </c:extLst>
        </c:ser>
        <c:ser>
          <c:idx val="1"/>
          <c:order val="1"/>
          <c:tx>
            <c:strRef>
              <c:f>'ChannelViews by AgeCohort'!$C$1</c:f>
              <c:strCache>
                <c:ptCount val="1"/>
                <c:pt idx="0">
                  <c:v>Mature_Adults</c:v>
                </c:pt>
              </c:strCache>
            </c:strRef>
          </c:tx>
          <c:spPr>
            <a:solidFill>
              <a:schemeClr val="accent2">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AgeCohort'!$C$2:$C$21</c:f>
              <c:numCache>
                <c:formatCode>General</c:formatCode>
                <c:ptCount val="20"/>
                <c:pt idx="0">
                  <c:v>81056</c:v>
                </c:pt>
                <c:pt idx="1">
                  <c:v>90075</c:v>
                </c:pt>
                <c:pt idx="2">
                  <c:v>552</c:v>
                </c:pt>
                <c:pt idx="3">
                  <c:v>104348</c:v>
                </c:pt>
                <c:pt idx="4">
                  <c:v>184704</c:v>
                </c:pt>
                <c:pt idx="5">
                  <c:v>153019</c:v>
                </c:pt>
                <c:pt idx="6">
                  <c:v>5480</c:v>
                </c:pt>
                <c:pt idx="7">
                  <c:v>38292</c:v>
                </c:pt>
                <c:pt idx="8">
                  <c:v>515250</c:v>
                </c:pt>
                <c:pt idx="9">
                  <c:v>2247</c:v>
                </c:pt>
                <c:pt idx="10">
                  <c:v>210</c:v>
                </c:pt>
                <c:pt idx="11">
                  <c:v>5924</c:v>
                </c:pt>
                <c:pt idx="12">
                  <c:v>645</c:v>
                </c:pt>
                <c:pt idx="13">
                  <c:v>15982</c:v>
                </c:pt>
                <c:pt idx="14">
                  <c:v>144495</c:v>
                </c:pt>
                <c:pt idx="15">
                  <c:v>424748</c:v>
                </c:pt>
                <c:pt idx="16">
                  <c:v>152829</c:v>
                </c:pt>
                <c:pt idx="17">
                  <c:v>0</c:v>
                </c:pt>
                <c:pt idx="18">
                  <c:v>1632</c:v>
                </c:pt>
                <c:pt idx="19">
                  <c:v>31</c:v>
                </c:pt>
              </c:numCache>
            </c:numRef>
          </c:val>
          <c:extLst>
            <c:ext xmlns:c16="http://schemas.microsoft.com/office/drawing/2014/chart" uri="{C3380CC4-5D6E-409C-BE32-E72D297353CC}">
              <c16:uniqueId val="{00000001-04A0-41E8-BB31-C7E0016B94D6}"/>
            </c:ext>
          </c:extLst>
        </c:ser>
        <c:ser>
          <c:idx val="2"/>
          <c:order val="2"/>
          <c:tx>
            <c:strRef>
              <c:f>'ChannelViews by AgeCohort'!$D$1</c:f>
              <c:strCache>
                <c:ptCount val="1"/>
                <c:pt idx="0">
                  <c:v>Senior</c:v>
                </c:pt>
              </c:strCache>
            </c:strRef>
          </c:tx>
          <c:spPr>
            <a:solidFill>
              <a:schemeClr val="accent3">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AgeCohort'!$D$2:$D$21</c:f>
              <c:numCache>
                <c:formatCode>General</c:formatCode>
                <c:ptCount val="20"/>
                <c:pt idx="0">
                  <c:v>7916</c:v>
                </c:pt>
                <c:pt idx="1">
                  <c:v>8454</c:v>
                </c:pt>
                <c:pt idx="2">
                  <c:v>493</c:v>
                </c:pt>
                <c:pt idx="3">
                  <c:v>3788</c:v>
                </c:pt>
                <c:pt idx="4">
                  <c:v>16179</c:v>
                </c:pt>
                <c:pt idx="5">
                  <c:v>32570</c:v>
                </c:pt>
                <c:pt idx="6">
                  <c:v>710</c:v>
                </c:pt>
                <c:pt idx="7">
                  <c:v>7700</c:v>
                </c:pt>
                <c:pt idx="8">
                  <c:v>45976</c:v>
                </c:pt>
                <c:pt idx="9">
                  <c:v>1869</c:v>
                </c:pt>
                <c:pt idx="10">
                  <c:v>72</c:v>
                </c:pt>
                <c:pt idx="11">
                  <c:v>622</c:v>
                </c:pt>
                <c:pt idx="12">
                  <c:v>151</c:v>
                </c:pt>
                <c:pt idx="13">
                  <c:v>643</c:v>
                </c:pt>
                <c:pt idx="14">
                  <c:v>30384</c:v>
                </c:pt>
                <c:pt idx="15">
                  <c:v>43958</c:v>
                </c:pt>
                <c:pt idx="16">
                  <c:v>23910</c:v>
                </c:pt>
                <c:pt idx="17">
                  <c:v>0</c:v>
                </c:pt>
                <c:pt idx="18">
                  <c:v>126</c:v>
                </c:pt>
                <c:pt idx="19">
                  <c:v>0</c:v>
                </c:pt>
              </c:numCache>
            </c:numRef>
          </c:val>
          <c:extLst>
            <c:ext xmlns:c16="http://schemas.microsoft.com/office/drawing/2014/chart" uri="{C3380CC4-5D6E-409C-BE32-E72D297353CC}">
              <c16:uniqueId val="{00000002-04A0-41E8-BB31-C7E0016B94D6}"/>
            </c:ext>
          </c:extLst>
        </c:ser>
        <c:ser>
          <c:idx val="3"/>
          <c:order val="3"/>
          <c:tx>
            <c:strRef>
              <c:f>'ChannelViews by AgeCohort'!$E$1</c:f>
              <c:strCache>
                <c:ptCount val="1"/>
                <c:pt idx="0">
                  <c:v>Unknown</c:v>
                </c:pt>
              </c:strCache>
            </c:strRef>
          </c:tx>
          <c:spPr>
            <a:solidFill>
              <a:schemeClr val="accent4">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AgeCohort'!$E$2:$E$21</c:f>
              <c:numCache>
                <c:formatCode>General</c:formatCode>
                <c:ptCount val="20"/>
                <c:pt idx="0">
                  <c:v>2947</c:v>
                </c:pt>
                <c:pt idx="1">
                  <c:v>7742</c:v>
                </c:pt>
                <c:pt idx="2">
                  <c:v>46</c:v>
                </c:pt>
                <c:pt idx="3">
                  <c:v>5835</c:v>
                </c:pt>
                <c:pt idx="4">
                  <c:v>22464</c:v>
                </c:pt>
                <c:pt idx="5">
                  <c:v>3913</c:v>
                </c:pt>
                <c:pt idx="6">
                  <c:v>1020</c:v>
                </c:pt>
                <c:pt idx="7">
                  <c:v>3028</c:v>
                </c:pt>
                <c:pt idx="8">
                  <c:v>56748</c:v>
                </c:pt>
                <c:pt idx="9">
                  <c:v>405</c:v>
                </c:pt>
                <c:pt idx="10">
                  <c:v>0</c:v>
                </c:pt>
                <c:pt idx="11">
                  <c:v>394</c:v>
                </c:pt>
                <c:pt idx="12">
                  <c:v>523</c:v>
                </c:pt>
                <c:pt idx="13">
                  <c:v>928</c:v>
                </c:pt>
                <c:pt idx="14">
                  <c:v>7434</c:v>
                </c:pt>
                <c:pt idx="15">
                  <c:v>13534</c:v>
                </c:pt>
                <c:pt idx="16">
                  <c:v>3456</c:v>
                </c:pt>
                <c:pt idx="17">
                  <c:v>0</c:v>
                </c:pt>
                <c:pt idx="18">
                  <c:v>46</c:v>
                </c:pt>
                <c:pt idx="19">
                  <c:v>0</c:v>
                </c:pt>
              </c:numCache>
            </c:numRef>
          </c:val>
          <c:extLst>
            <c:ext xmlns:c16="http://schemas.microsoft.com/office/drawing/2014/chart" uri="{C3380CC4-5D6E-409C-BE32-E72D297353CC}">
              <c16:uniqueId val="{00000003-04A0-41E8-BB31-C7E0016B94D6}"/>
            </c:ext>
          </c:extLst>
        </c:ser>
        <c:ser>
          <c:idx val="4"/>
          <c:order val="4"/>
          <c:tx>
            <c:strRef>
              <c:f>'ChannelViews by AgeCohort'!$F$1</c:f>
              <c:strCache>
                <c:ptCount val="1"/>
                <c:pt idx="0">
                  <c:v>Young_Adult</c:v>
                </c:pt>
              </c:strCache>
            </c:strRef>
          </c:tx>
          <c:spPr>
            <a:solidFill>
              <a:schemeClr val="accent5">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AgeCohort'!$F$2:$F$21</c:f>
              <c:numCache>
                <c:formatCode>General</c:formatCode>
                <c:ptCount val="20"/>
                <c:pt idx="0">
                  <c:v>80378</c:v>
                </c:pt>
                <c:pt idx="1">
                  <c:v>152389</c:v>
                </c:pt>
                <c:pt idx="2">
                  <c:v>2097</c:v>
                </c:pt>
                <c:pt idx="3">
                  <c:v>132086</c:v>
                </c:pt>
                <c:pt idx="4">
                  <c:v>448827</c:v>
                </c:pt>
                <c:pt idx="5">
                  <c:v>53748</c:v>
                </c:pt>
                <c:pt idx="6">
                  <c:v>9970</c:v>
                </c:pt>
                <c:pt idx="7">
                  <c:v>83210</c:v>
                </c:pt>
                <c:pt idx="8">
                  <c:v>817500</c:v>
                </c:pt>
                <c:pt idx="9">
                  <c:v>5223</c:v>
                </c:pt>
                <c:pt idx="10">
                  <c:v>0</c:v>
                </c:pt>
                <c:pt idx="11">
                  <c:v>6104</c:v>
                </c:pt>
                <c:pt idx="12">
                  <c:v>1092</c:v>
                </c:pt>
                <c:pt idx="13">
                  <c:v>19702</c:v>
                </c:pt>
                <c:pt idx="14">
                  <c:v>134461</c:v>
                </c:pt>
                <c:pt idx="15">
                  <c:v>638944</c:v>
                </c:pt>
                <c:pt idx="16">
                  <c:v>479286</c:v>
                </c:pt>
                <c:pt idx="17">
                  <c:v>0</c:v>
                </c:pt>
                <c:pt idx="18">
                  <c:v>3277</c:v>
                </c:pt>
                <c:pt idx="19">
                  <c:v>0</c:v>
                </c:pt>
              </c:numCache>
            </c:numRef>
          </c:val>
          <c:extLst>
            <c:ext xmlns:c16="http://schemas.microsoft.com/office/drawing/2014/chart" uri="{C3380CC4-5D6E-409C-BE32-E72D297353CC}">
              <c16:uniqueId val="{00000004-04A0-41E8-BB31-C7E0016B94D6}"/>
            </c:ext>
          </c:extLst>
        </c:ser>
        <c:ser>
          <c:idx val="5"/>
          <c:order val="5"/>
          <c:tx>
            <c:strRef>
              <c:f>'ChannelViews by AgeCohort'!$G$1</c:f>
              <c:strCache>
                <c:ptCount val="1"/>
                <c:pt idx="0">
                  <c:v>Youth</c:v>
                </c:pt>
              </c:strCache>
            </c:strRef>
          </c:tx>
          <c:spPr>
            <a:solidFill>
              <a:schemeClr val="accent6">
                <a:alpha val="70000"/>
              </a:schemeClr>
            </a:solidFill>
            <a:ln>
              <a:noFill/>
            </a:ln>
            <a:effectLst/>
          </c:spPr>
          <c:invertIfNegative val="0"/>
          <c:cat>
            <c:strRef>
              <c:f>'ChannelViews by AgeCohort'!$A$2:$A$21</c:f>
              <c:strCache>
                <c:ptCount val="20"/>
                <c:pt idx="0">
                  <c:v>AfricaMagic</c:v>
                </c:pt>
                <c:pt idx="1">
                  <c:v>Boomerang</c:v>
                </c:pt>
                <c:pt idx="2">
                  <c:v>BreakInTransmission</c:v>
                </c:pt>
                <c:pt idx="3">
                  <c:v>CartoonNetwork</c:v>
                </c:pt>
                <c:pt idx="4">
                  <c:v>ChannelO</c:v>
                </c:pt>
                <c:pt idx="5">
                  <c:v>Cnn</c:v>
                </c:pt>
                <c:pt idx="6">
                  <c:v>DstvEvents1</c:v>
                </c:pt>
                <c:pt idx="7">
                  <c:v>E!Entertainment</c:v>
                </c:pt>
                <c:pt idx="8">
                  <c:v>IccCricketWorldCup2011</c:v>
                </c:pt>
                <c:pt idx="9">
                  <c:v>Kyknet</c:v>
                </c:pt>
                <c:pt idx="10">
                  <c:v>LiveOnSupersport</c:v>
                </c:pt>
                <c:pt idx="11">
                  <c:v>M-net</c:v>
                </c:pt>
                <c:pt idx="12">
                  <c:v>Mk</c:v>
                </c:pt>
                <c:pt idx="13">
                  <c:v>Sawsee</c:v>
                </c:pt>
                <c:pt idx="14">
                  <c:v>SupersportBlitz</c:v>
                </c:pt>
                <c:pt idx="15">
                  <c:v>SupersportLiveEvents</c:v>
                </c:pt>
                <c:pt idx="16">
                  <c:v>TraceTv</c:v>
                </c:pt>
                <c:pt idx="17">
                  <c:v>Unknown</c:v>
                </c:pt>
                <c:pt idx="18">
                  <c:v>Vuzu</c:v>
                </c:pt>
                <c:pt idx="19">
                  <c:v>Wimbledon</c:v>
                </c:pt>
              </c:strCache>
            </c:strRef>
          </c:cat>
          <c:val>
            <c:numRef>
              <c:f>'ChannelViews by AgeCohort'!$G$2:$G$21</c:f>
              <c:numCache>
                <c:formatCode>General</c:formatCode>
                <c:ptCount val="20"/>
                <c:pt idx="0">
                  <c:v>2576</c:v>
                </c:pt>
                <c:pt idx="1">
                  <c:v>4478</c:v>
                </c:pt>
                <c:pt idx="2">
                  <c:v>22</c:v>
                </c:pt>
                <c:pt idx="3">
                  <c:v>6743</c:v>
                </c:pt>
                <c:pt idx="4">
                  <c:v>16686</c:v>
                </c:pt>
                <c:pt idx="5">
                  <c:v>608</c:v>
                </c:pt>
                <c:pt idx="6">
                  <c:v>60</c:v>
                </c:pt>
                <c:pt idx="7">
                  <c:v>294</c:v>
                </c:pt>
                <c:pt idx="8">
                  <c:v>8122</c:v>
                </c:pt>
                <c:pt idx="9">
                  <c:v>0</c:v>
                </c:pt>
                <c:pt idx="10">
                  <c:v>0</c:v>
                </c:pt>
                <c:pt idx="11">
                  <c:v>795</c:v>
                </c:pt>
                <c:pt idx="12">
                  <c:v>0</c:v>
                </c:pt>
                <c:pt idx="13">
                  <c:v>32</c:v>
                </c:pt>
                <c:pt idx="14">
                  <c:v>8176</c:v>
                </c:pt>
                <c:pt idx="15">
                  <c:v>2490</c:v>
                </c:pt>
                <c:pt idx="16">
                  <c:v>19860</c:v>
                </c:pt>
                <c:pt idx="17">
                  <c:v>0</c:v>
                </c:pt>
                <c:pt idx="18">
                  <c:v>58</c:v>
                </c:pt>
                <c:pt idx="19">
                  <c:v>0</c:v>
                </c:pt>
              </c:numCache>
            </c:numRef>
          </c:val>
          <c:extLst>
            <c:ext xmlns:c16="http://schemas.microsoft.com/office/drawing/2014/chart" uri="{C3380CC4-5D6E-409C-BE32-E72D297353CC}">
              <c16:uniqueId val="{00000005-04A0-41E8-BB31-C7E0016B94D6}"/>
            </c:ext>
          </c:extLst>
        </c:ser>
        <c:dLbls>
          <c:showLegendKey val="0"/>
          <c:showVal val="0"/>
          <c:showCatName val="0"/>
          <c:showSerName val="0"/>
          <c:showPercent val="0"/>
          <c:showBubbleSize val="0"/>
        </c:dLbls>
        <c:gapWidth val="50"/>
        <c:overlap val="100"/>
        <c:axId val="1650841119"/>
        <c:axId val="1650846879"/>
      </c:barChart>
      <c:catAx>
        <c:axId val="1650841119"/>
        <c:scaling>
          <c:orientation val="minMax"/>
        </c:scaling>
        <c:delete val="0"/>
        <c:axPos val="b"/>
        <c:numFmt formatCode="General" sourceLinked="1"/>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0846879"/>
        <c:crosses val="autoZero"/>
        <c:auto val="1"/>
        <c:lblAlgn val="ctr"/>
        <c:lblOffset val="100"/>
        <c:noMultiLvlLbl val="0"/>
      </c:catAx>
      <c:valAx>
        <c:axId val="165084687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08411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3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DFA264C-61D9-4B7C-887C-8038E6C0FB2A}" type="datetimeFigureOut">
              <a:rPr lang="en-US" smtClean="0"/>
              <a:t>4/19/2026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C5E7CB-4692-4F08-84F2-969251F95215}" type="slidenum">
              <a:rPr lang="en-US" smtClean="0"/>
              <a:t>‹#›</a:t>
            </a:fld>
            <a:endParaRPr lang="en-US"/>
          </a:p>
        </p:txBody>
      </p:sp>
    </p:spTree>
    <p:extLst>
      <p:ext uri="{BB962C8B-B14F-4D97-AF65-F5344CB8AC3E}">
        <p14:creationId xmlns:p14="http://schemas.microsoft.com/office/powerpoint/2010/main" val="532548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90483"/>
          <p:cNvSpPr>
            <a:spLocks noChangeArrowheads="1"/>
          </p:cNvSpPr>
          <p:nvPr userDrawn="1"/>
        </p:nvSpPr>
        <p:spPr bwMode="auto">
          <a:xfrm>
            <a:off x="5899151" y="5651500"/>
            <a:ext cx="3243263" cy="850900"/>
          </a:xfrm>
          <a:prstGeom prst="rect">
            <a:avLst/>
          </a:prstGeom>
          <a:gradFill>
            <a:gsLst>
              <a:gs pos="0">
                <a:schemeClr val="accent2">
                  <a:lumMod val="75000"/>
                </a:schemeClr>
              </a:gs>
              <a:gs pos="50000">
                <a:schemeClr val="accent2"/>
              </a:gs>
              <a:gs pos="100000">
                <a:schemeClr val="accent2">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0484"/>
          <p:cNvSpPr>
            <a:spLocks noChangeArrowheads="1"/>
          </p:cNvSpPr>
          <p:nvPr userDrawn="1"/>
        </p:nvSpPr>
        <p:spPr bwMode="auto">
          <a:xfrm>
            <a:off x="5899151" y="0"/>
            <a:ext cx="3243263" cy="5724525"/>
          </a:xfrm>
          <a:prstGeom prst="rect">
            <a:avLst/>
          </a:prstGeom>
          <a:gradFill>
            <a:gsLst>
              <a:gs pos="0">
                <a:schemeClr val="accent1">
                  <a:lumMod val="50000"/>
                </a:schemeClr>
              </a:gs>
              <a:gs pos="50000">
                <a:schemeClr val="accent1"/>
              </a:gs>
              <a:gs pos="100000">
                <a:schemeClr val="accent1">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0485"/>
          <p:cNvSpPr>
            <a:spLocks noChangeArrowheads="1"/>
          </p:cNvSpPr>
          <p:nvPr userDrawn="1"/>
        </p:nvSpPr>
        <p:spPr bwMode="auto">
          <a:xfrm>
            <a:off x="5899151" y="6448425"/>
            <a:ext cx="3243263" cy="409575"/>
          </a:xfrm>
          <a:prstGeom prst="rect">
            <a:avLst/>
          </a:prstGeom>
          <a:gradFill>
            <a:gsLst>
              <a:gs pos="0">
                <a:schemeClr val="accent3">
                  <a:lumMod val="75000"/>
                </a:schemeClr>
              </a:gs>
              <a:gs pos="50000">
                <a:schemeClr val="accent3"/>
              </a:gs>
              <a:gs pos="100000">
                <a:schemeClr val="accent3">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ctrTitle"/>
          </p:nvPr>
        </p:nvSpPr>
        <p:spPr>
          <a:xfrm>
            <a:off x="4343400" y="2320373"/>
            <a:ext cx="4495800" cy="1108627"/>
          </a:xfrm>
        </p:spPr>
        <p:txBody>
          <a:bodyPr>
            <a:normAutofit/>
          </a:bodyPr>
          <a:lstStyle>
            <a:lvl1pPr algn="r">
              <a:defRPr sz="28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343400" y="3429000"/>
            <a:ext cx="4495800" cy="685800"/>
          </a:xfrm>
        </p:spPr>
        <p:txBody>
          <a:bodyPr/>
          <a:lstStyle>
            <a:lvl1pPr marL="0" indent="0" algn="r">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067225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6A866-0A23-491F-85A5-D120BEBA0BC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3314808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C6A866-0A23-491F-85A5-D120BEBA0BC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1129688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C6A866-0A23-491F-85A5-D120BEBA0BC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1079500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9C6A866-0A23-491F-85A5-D120BEBA0BC2}"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2627382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C6A866-0A23-491F-85A5-D120BEBA0BC2}"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1491277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6A866-0A23-491F-85A5-D120BEBA0BC2}"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2261415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6A866-0A23-491F-85A5-D120BEBA0BC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157530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C6A866-0A23-491F-85A5-D120BEBA0BC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3395241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6A866-0A23-491F-85A5-D120BEBA0BC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307518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C6A866-0A23-491F-85A5-D120BEBA0BC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4C93B1-FCDD-4EE2-9D2A-962769FD0B9F}" type="slidenum">
              <a:rPr lang="en-US" smtClean="0"/>
              <a:t>‹#›</a:t>
            </a:fld>
            <a:endParaRPr lang="en-US"/>
          </a:p>
        </p:txBody>
      </p:sp>
    </p:spTree>
    <p:extLst>
      <p:ext uri="{BB962C8B-B14F-4D97-AF65-F5344CB8AC3E}">
        <p14:creationId xmlns:p14="http://schemas.microsoft.com/office/powerpoint/2010/main" val="2710695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7" name="Rectangle 9"/>
          <p:cNvSpPr>
            <a:spLocks noChangeArrowheads="1"/>
          </p:cNvSpPr>
          <p:nvPr userDrawn="1"/>
        </p:nvSpPr>
        <p:spPr bwMode="auto">
          <a:xfrm>
            <a:off x="8620125" y="1"/>
            <a:ext cx="533400" cy="1371600"/>
          </a:xfrm>
          <a:prstGeom prst="rect">
            <a:avLst/>
          </a:prstGeom>
          <a:gradFill>
            <a:gsLst>
              <a:gs pos="0">
                <a:schemeClr val="accent3">
                  <a:lumMod val="75000"/>
                </a:schemeClr>
              </a:gs>
              <a:gs pos="50000">
                <a:schemeClr val="accent3"/>
              </a:gs>
              <a:gs pos="100000">
                <a:schemeClr val="accent3">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10"/>
          <p:cNvSpPr>
            <a:spLocks noChangeArrowheads="1"/>
          </p:cNvSpPr>
          <p:nvPr userDrawn="1"/>
        </p:nvSpPr>
        <p:spPr bwMode="auto">
          <a:xfrm>
            <a:off x="7799388" y="1"/>
            <a:ext cx="960438" cy="1371600"/>
          </a:xfrm>
          <a:prstGeom prst="rect">
            <a:avLst/>
          </a:prstGeom>
          <a:gradFill>
            <a:gsLst>
              <a:gs pos="0">
                <a:schemeClr val="accent2">
                  <a:lumMod val="75000"/>
                </a:schemeClr>
              </a:gs>
              <a:gs pos="50000">
                <a:schemeClr val="accent2"/>
              </a:gs>
              <a:gs pos="100000">
                <a:schemeClr val="accent2">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11"/>
          <p:cNvSpPr>
            <a:spLocks noChangeArrowheads="1"/>
          </p:cNvSpPr>
          <p:nvPr userDrawn="1"/>
        </p:nvSpPr>
        <p:spPr bwMode="auto">
          <a:xfrm>
            <a:off x="0" y="1"/>
            <a:ext cx="7837488" cy="1371600"/>
          </a:xfrm>
          <a:prstGeom prst="rect">
            <a:avLst/>
          </a:prstGeom>
          <a:gradFill>
            <a:gsLst>
              <a:gs pos="0">
                <a:schemeClr val="accent1">
                  <a:lumMod val="50000"/>
                </a:schemeClr>
              </a:gs>
              <a:gs pos="50000">
                <a:schemeClr val="accent1"/>
              </a:gs>
              <a:gs pos="100000">
                <a:schemeClr val="accent1">
                  <a:lumMod val="60000"/>
                  <a:lumOff val="40000"/>
                </a:schemeClr>
              </a:gs>
            </a:gsLst>
            <a:lin ang="1620000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Placeholder 1"/>
          <p:cNvSpPr>
            <a:spLocks noGrp="1"/>
          </p:cNvSpPr>
          <p:nvPr>
            <p:ph type="title"/>
          </p:nvPr>
        </p:nvSpPr>
        <p:spPr>
          <a:xfrm>
            <a:off x="457200" y="76200"/>
            <a:ext cx="8229600" cy="12192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Microsoft Sans Serif" pitchFamily="34" charset="0"/>
                <a:cs typeface="Microsoft Sans Serif" pitchFamily="34" charset="0"/>
              </a:defRPr>
            </a:lvl1pPr>
          </a:lstStyle>
          <a:p>
            <a:fld id="{69C6A866-0A23-491F-85A5-D120BEBA0BC2}"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icrosoft Sans Serif" pitchFamily="34" charset="0"/>
                <a:cs typeface="Microsoft Sans Serif"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Microsoft Sans Serif" pitchFamily="34" charset="0"/>
                <a:cs typeface="Microsoft Sans Serif" pitchFamily="34" charset="0"/>
              </a:defRPr>
            </a:lvl1pPr>
          </a:lstStyle>
          <a:p>
            <a:fld id="{F54C93B1-FCDD-4EE2-9D2A-962769FD0B9F}" type="slidenum">
              <a:rPr lang="en-US" smtClean="0"/>
              <a:pPr/>
              <a:t>‹#›</a:t>
            </a:fld>
            <a:endParaRPr lang="en-US"/>
          </a:p>
        </p:txBody>
      </p:sp>
    </p:spTree>
    <p:extLst>
      <p:ext uri="{BB962C8B-B14F-4D97-AF65-F5344CB8AC3E}">
        <p14:creationId xmlns:p14="http://schemas.microsoft.com/office/powerpoint/2010/main" val="4080408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bg1"/>
          </a:solidFill>
          <a:latin typeface="Microsoft Sans Serif" pitchFamily="34" charset="0"/>
          <a:ea typeface="+mj-ea"/>
          <a:cs typeface="Microsoft Sans Serif"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icrosoft Sans Serif" pitchFamily="34" charset="0"/>
          <a:ea typeface="+mn-ea"/>
          <a:cs typeface="Microsoft Sans Serif"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icrosoft Sans Serif" pitchFamily="34" charset="0"/>
          <a:ea typeface="+mn-ea"/>
          <a:cs typeface="Microsoft Sans Serif"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icrosoft Sans Serif" pitchFamily="34" charset="0"/>
          <a:ea typeface="+mn-ea"/>
          <a:cs typeface="Microsoft Sans Serif"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icrosoft Sans Serif" pitchFamily="34" charset="0"/>
          <a:ea typeface="+mn-ea"/>
          <a:cs typeface="Microsoft Sans Serif"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icrosoft Sans Serif" pitchFamily="34" charset="0"/>
          <a:ea typeface="+mn-ea"/>
          <a:cs typeface="Microsoft Sans Serif"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5000" y="609600"/>
            <a:ext cx="3352800" cy="2362200"/>
          </a:xfrm>
        </p:spPr>
        <p:txBody>
          <a:bodyPr>
            <a:normAutofit/>
          </a:bodyPr>
          <a:lstStyle/>
          <a:p>
            <a:r>
              <a:rPr lang="en-US" dirty="0"/>
              <a:t> Bright TV Audience Engagement &amp; Growth Strategy</a:t>
            </a:r>
            <a:br>
              <a:rPr lang="en-US" dirty="0"/>
            </a:br>
            <a:endParaRPr lang="en-US" dirty="0"/>
          </a:p>
        </p:txBody>
      </p:sp>
      <p:sp>
        <p:nvSpPr>
          <p:cNvPr id="3" name="Subtitle 2"/>
          <p:cNvSpPr>
            <a:spLocks noGrp="1"/>
          </p:cNvSpPr>
          <p:nvPr>
            <p:ph type="subTitle" idx="1"/>
          </p:nvPr>
        </p:nvSpPr>
        <p:spPr>
          <a:xfrm>
            <a:off x="5943600" y="3429000"/>
            <a:ext cx="3124200" cy="685800"/>
          </a:xfrm>
        </p:spPr>
        <p:txBody>
          <a:bodyPr/>
          <a:lstStyle/>
          <a:p>
            <a:r>
              <a:rPr lang="en-US" dirty="0"/>
              <a:t>Presenter: Kometsi Khotlele</a:t>
            </a:r>
          </a:p>
        </p:txBody>
      </p:sp>
      <p:sp>
        <p:nvSpPr>
          <p:cNvPr id="4" name="TextBox 3">
            <a:extLst>
              <a:ext uri="{FF2B5EF4-FFF2-40B4-BE49-F238E27FC236}">
                <a16:creationId xmlns:a16="http://schemas.microsoft.com/office/drawing/2014/main" id="{42DEB328-A6D7-DE21-FA45-415E1E331A51}"/>
              </a:ext>
            </a:extLst>
          </p:cNvPr>
          <p:cNvSpPr txBox="1"/>
          <p:nvPr/>
        </p:nvSpPr>
        <p:spPr>
          <a:xfrm>
            <a:off x="5943600" y="4387334"/>
            <a:ext cx="3200400" cy="830997"/>
          </a:xfrm>
          <a:prstGeom prst="rect">
            <a:avLst/>
          </a:prstGeom>
          <a:noFill/>
        </p:spPr>
        <p:txBody>
          <a:bodyPr wrap="square" rtlCol="0">
            <a:spAutoFit/>
          </a:bodyPr>
          <a:lstStyle/>
          <a:p>
            <a:r>
              <a:rPr lang="en-US" sz="2400" dirty="0">
                <a:solidFill>
                  <a:srgbClr val="92D050"/>
                </a:solidFill>
              </a:rPr>
              <a:t>Data driven insights and </a:t>
            </a:r>
          </a:p>
          <a:p>
            <a:r>
              <a:rPr lang="en-US" sz="2400" dirty="0">
                <a:solidFill>
                  <a:srgbClr val="92D050"/>
                </a:solidFill>
              </a:rPr>
              <a:t>Usage Trends Analysis</a:t>
            </a:r>
            <a:endParaRPr lang="en-ZA" sz="2400" dirty="0">
              <a:solidFill>
                <a:srgbClr val="92D050"/>
              </a:solidFill>
            </a:endParaRPr>
          </a:p>
        </p:txBody>
      </p:sp>
    </p:spTree>
    <p:extLst>
      <p:ext uri="{BB962C8B-B14F-4D97-AF65-F5344CB8AC3E}">
        <p14:creationId xmlns:p14="http://schemas.microsoft.com/office/powerpoint/2010/main" val="2721364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3AD47-4C29-65CF-1F8B-300E9727C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E37F8-FA83-28C8-3237-88A4F7D5EB7C}"/>
              </a:ext>
            </a:extLst>
          </p:cNvPr>
          <p:cNvSpPr>
            <a:spLocks noGrp="1"/>
          </p:cNvSpPr>
          <p:nvPr>
            <p:ph type="title"/>
          </p:nvPr>
        </p:nvSpPr>
        <p:spPr>
          <a:xfrm>
            <a:off x="457200" y="228600"/>
            <a:ext cx="8229600" cy="990600"/>
          </a:xfrm>
        </p:spPr>
        <p:txBody>
          <a:bodyPr>
            <a:normAutofit fontScale="90000"/>
          </a:bodyPr>
          <a:lstStyle/>
          <a:p>
            <a:r>
              <a:rPr lang="en-US" sz="4400" b="1" dirty="0"/>
              <a:t>Executive Summary</a:t>
            </a:r>
            <a:br>
              <a:rPr lang="en-US" b="1" dirty="0"/>
            </a:br>
            <a:endParaRPr lang="en-US" dirty="0"/>
          </a:p>
        </p:txBody>
      </p:sp>
      <p:sp>
        <p:nvSpPr>
          <p:cNvPr id="3" name="Content Placeholder 2">
            <a:extLst>
              <a:ext uri="{FF2B5EF4-FFF2-40B4-BE49-F238E27FC236}">
                <a16:creationId xmlns:a16="http://schemas.microsoft.com/office/drawing/2014/main" id="{F9C6BE2F-59A1-013C-7D41-04B35D77337B}"/>
              </a:ext>
            </a:extLst>
          </p:cNvPr>
          <p:cNvSpPr>
            <a:spLocks noGrp="1"/>
          </p:cNvSpPr>
          <p:nvPr>
            <p:ph idx="1"/>
          </p:nvPr>
        </p:nvSpPr>
        <p:spPr>
          <a:xfrm>
            <a:off x="457200" y="1600200"/>
            <a:ext cx="8229600" cy="4525963"/>
          </a:xfrm>
        </p:spPr>
        <p:txBody>
          <a:bodyPr>
            <a:normAutofit/>
          </a:bodyPr>
          <a:lstStyle/>
          <a:p>
            <a:r>
              <a:rPr lang="en-US" sz="1800" b="1" dirty="0"/>
              <a:t>Overview:</a:t>
            </a:r>
            <a:r>
              <a:rPr lang="en-US" sz="1800" dirty="0"/>
              <a:t> Analysis of 10,000+ viewing records to identify consumption drivers.</a:t>
            </a:r>
          </a:p>
          <a:p>
            <a:endParaRPr lang="en-US" sz="1800" dirty="0"/>
          </a:p>
          <a:p>
            <a:r>
              <a:rPr lang="en-US" sz="1800" b="1" dirty="0"/>
              <a:t>The "Big Win":</a:t>
            </a:r>
            <a:r>
              <a:rPr lang="en-US" sz="1800" dirty="0"/>
              <a:t> Identified a Saturday peak of </a:t>
            </a:r>
            <a:r>
              <a:rPr lang="en-US" sz="1800" b="1" dirty="0"/>
              <a:t>1.07M seconds</a:t>
            </a:r>
            <a:r>
              <a:rPr lang="en-US" sz="1800" dirty="0"/>
              <a:t> and a Monday low of </a:t>
            </a:r>
            <a:r>
              <a:rPr lang="en-US" sz="1800" b="1" dirty="0"/>
              <a:t>423K seconds</a:t>
            </a:r>
            <a:r>
              <a:rPr lang="en-US" sz="1800" dirty="0"/>
              <a:t>.</a:t>
            </a:r>
          </a:p>
          <a:p>
            <a:endParaRPr lang="en-US" sz="1800" dirty="0"/>
          </a:p>
          <a:p>
            <a:r>
              <a:rPr lang="en-US" sz="1800" b="1" dirty="0"/>
              <a:t>Key Opportunity:</a:t>
            </a:r>
            <a:r>
              <a:rPr lang="en-US" sz="1800" dirty="0"/>
              <a:t> Diversifying growth beyond the Gauteng/Western Cape strongholds and capturing the "Morning Peak" of niche demographics.</a:t>
            </a:r>
          </a:p>
          <a:p>
            <a:endParaRPr lang="en-US" sz="1800" dirty="0"/>
          </a:p>
        </p:txBody>
      </p:sp>
    </p:spTree>
    <p:extLst>
      <p:ext uri="{BB962C8B-B14F-4D97-AF65-F5344CB8AC3E}">
        <p14:creationId xmlns:p14="http://schemas.microsoft.com/office/powerpoint/2010/main" val="2455981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80EE6-5B82-5332-D392-4032F1816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F5B2C-2E20-D0B8-5A6E-E1D89EDAE783}"/>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Who is watching:</a:t>
            </a:r>
            <a:br>
              <a:rPr lang="en-US" b="1" dirty="0"/>
            </a:br>
            <a:r>
              <a:rPr lang="en-US" b="1" dirty="0"/>
              <a:t>Consumption by age cohort</a:t>
            </a:r>
            <a:br>
              <a:rPr lang="en-US" b="1" dirty="0"/>
            </a:br>
            <a:endParaRPr lang="en-US" dirty="0"/>
          </a:p>
        </p:txBody>
      </p:sp>
      <p:sp>
        <p:nvSpPr>
          <p:cNvPr id="3" name="Content Placeholder 2">
            <a:extLst>
              <a:ext uri="{FF2B5EF4-FFF2-40B4-BE49-F238E27FC236}">
                <a16:creationId xmlns:a16="http://schemas.microsoft.com/office/drawing/2014/main" id="{B74281E8-D47B-AE25-94A9-5B289DF5F00D}"/>
              </a:ext>
            </a:extLst>
          </p:cNvPr>
          <p:cNvSpPr>
            <a:spLocks noGrp="1"/>
          </p:cNvSpPr>
          <p:nvPr>
            <p:ph idx="1"/>
          </p:nvPr>
        </p:nvSpPr>
        <p:spPr>
          <a:xfrm>
            <a:off x="76200" y="1366837"/>
            <a:ext cx="3581400" cy="5081587"/>
          </a:xfrm>
        </p:spPr>
        <p:txBody>
          <a:bodyPr>
            <a:normAutofit/>
          </a:bodyPr>
          <a:lstStyle/>
          <a:p>
            <a:r>
              <a:rPr lang="en-US" sz="1800" b="1" dirty="0"/>
              <a:t>Young adults cohort is the most active with the highest viewership across all races,</a:t>
            </a:r>
          </a:p>
          <a:p>
            <a:r>
              <a:rPr lang="en-US" sz="1800" b="1" dirty="0"/>
              <a:t>This surprise  figure is greater than the youth cohort and which is </a:t>
            </a:r>
            <a:r>
              <a:rPr lang="en-US" sz="1800" b="1" dirty="0" err="1"/>
              <a:t>surpussed</a:t>
            </a:r>
            <a:r>
              <a:rPr lang="en-US" sz="1800" b="1" dirty="0"/>
              <a:t> by mature adults.</a:t>
            </a:r>
          </a:p>
          <a:p>
            <a:endParaRPr lang="en-US" sz="1800" b="1" dirty="0"/>
          </a:p>
          <a:p>
            <a:r>
              <a:rPr lang="en-US" sz="1800" b="1" dirty="0"/>
              <a:t>There is an unallocated viewership ranging above the youth , kids and seniors which is a hidden gold mine</a:t>
            </a:r>
            <a:endParaRPr lang="en-US" sz="1800" dirty="0"/>
          </a:p>
          <a:p>
            <a:endParaRPr lang="en-US" sz="1800" dirty="0"/>
          </a:p>
        </p:txBody>
      </p:sp>
      <p:graphicFrame>
        <p:nvGraphicFramePr>
          <p:cNvPr id="6" name="Chart 5">
            <a:extLst>
              <a:ext uri="{FF2B5EF4-FFF2-40B4-BE49-F238E27FC236}">
                <a16:creationId xmlns:a16="http://schemas.microsoft.com/office/drawing/2014/main" id="{77691FA4-FFB3-4D0C-BA54-CDF6E0E3DF36}"/>
              </a:ext>
            </a:extLst>
          </p:cNvPr>
          <p:cNvGraphicFramePr>
            <a:graphicFrameLocks/>
          </p:cNvGraphicFramePr>
          <p:nvPr>
            <p:extLst>
              <p:ext uri="{D42A27DB-BD31-4B8C-83A1-F6EECF244321}">
                <p14:modId xmlns:p14="http://schemas.microsoft.com/office/powerpoint/2010/main" val="3284929352"/>
              </p:ext>
            </p:extLst>
          </p:nvPr>
        </p:nvGraphicFramePr>
        <p:xfrm>
          <a:off x="3733800" y="1466850"/>
          <a:ext cx="5029200" cy="48577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880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b="1" dirty="0"/>
              <a:t>Usage Trends – The "Weekly Pulse"</a:t>
            </a:r>
            <a:br>
              <a:rPr lang="en-US" b="1" dirty="0"/>
            </a:br>
            <a:endParaRPr lang="en-US" dirty="0"/>
          </a:p>
        </p:txBody>
      </p:sp>
      <p:sp>
        <p:nvSpPr>
          <p:cNvPr id="3" name="Content Placeholder 2"/>
          <p:cNvSpPr>
            <a:spLocks noGrp="1"/>
          </p:cNvSpPr>
          <p:nvPr>
            <p:ph idx="1"/>
          </p:nvPr>
        </p:nvSpPr>
        <p:spPr>
          <a:xfrm>
            <a:off x="4876800" y="1600200"/>
            <a:ext cx="4114800" cy="4525963"/>
          </a:xfrm>
        </p:spPr>
        <p:txBody>
          <a:bodyPr>
            <a:normAutofit/>
          </a:bodyPr>
          <a:lstStyle/>
          <a:p>
            <a:r>
              <a:rPr lang="en-US" sz="1800" b="1" dirty="0"/>
              <a:t>Trend:</a:t>
            </a:r>
            <a:r>
              <a:rPr lang="en-US" sz="1800" dirty="0"/>
              <a:t> Consumption builds through the week:</a:t>
            </a:r>
          </a:p>
          <a:p>
            <a:pPr lvl="1"/>
            <a:r>
              <a:rPr lang="en-US" sz="1600" b="1" dirty="0"/>
              <a:t>Monday:</a:t>
            </a:r>
            <a:r>
              <a:rPr lang="en-US" sz="1600" dirty="0"/>
              <a:t> 423k seconds (Lowest)</a:t>
            </a:r>
          </a:p>
          <a:p>
            <a:pPr lvl="1"/>
            <a:r>
              <a:rPr lang="en-US" sz="1600" b="1" dirty="0"/>
              <a:t>Wednesday:</a:t>
            </a:r>
            <a:r>
              <a:rPr lang="en-US" sz="1600" dirty="0"/>
              <a:t> 844k seconds (Mid-week spike)</a:t>
            </a:r>
          </a:p>
          <a:p>
            <a:pPr lvl="1"/>
            <a:r>
              <a:rPr lang="en-US" sz="1600" b="1" dirty="0"/>
              <a:t>Saturday:</a:t>
            </a:r>
            <a:r>
              <a:rPr lang="en-US" sz="1600" dirty="0"/>
              <a:t> 1,076k seconds (Peak)</a:t>
            </a:r>
          </a:p>
          <a:p>
            <a:r>
              <a:rPr lang="en-US" sz="1800" b="1" dirty="0"/>
              <a:t>Observation:</a:t>
            </a:r>
            <a:r>
              <a:rPr lang="en-US" sz="1800" dirty="0"/>
              <a:t> The "Weekend Surge" is driven largely by multi-hour viewing sessions on entertainment channels.</a:t>
            </a:r>
          </a:p>
          <a:p>
            <a:endParaRPr lang="en-US" sz="1800" dirty="0"/>
          </a:p>
        </p:txBody>
      </p:sp>
      <p:graphicFrame>
        <p:nvGraphicFramePr>
          <p:cNvPr id="4" name="Chart 3">
            <a:extLst>
              <a:ext uri="{FF2B5EF4-FFF2-40B4-BE49-F238E27FC236}">
                <a16:creationId xmlns:a16="http://schemas.microsoft.com/office/drawing/2014/main" id="{80786B56-4557-8D66-F1FD-BA9D3F09DC08}"/>
              </a:ext>
            </a:extLst>
          </p:cNvPr>
          <p:cNvGraphicFramePr>
            <a:graphicFrameLocks/>
          </p:cNvGraphicFramePr>
          <p:nvPr>
            <p:extLst>
              <p:ext uri="{D42A27DB-BD31-4B8C-83A1-F6EECF244321}">
                <p14:modId xmlns:p14="http://schemas.microsoft.com/office/powerpoint/2010/main" val="3081396680"/>
              </p:ext>
            </p:extLst>
          </p:nvPr>
        </p:nvGraphicFramePr>
        <p:xfrm>
          <a:off x="228600" y="1670684"/>
          <a:ext cx="4953000" cy="48063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4858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7CB1A-29DB-6F73-65BD-526B19868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BD3A9-872A-8060-D2D9-2A0CC82AC815}"/>
              </a:ext>
            </a:extLst>
          </p:cNvPr>
          <p:cNvSpPr>
            <a:spLocks noGrp="1"/>
          </p:cNvSpPr>
          <p:nvPr>
            <p:ph type="title"/>
          </p:nvPr>
        </p:nvSpPr>
        <p:spPr>
          <a:xfrm>
            <a:off x="457200" y="198438"/>
            <a:ext cx="8229600" cy="868362"/>
          </a:xfrm>
        </p:spPr>
        <p:txBody>
          <a:bodyPr>
            <a:normAutofit fontScale="90000"/>
          </a:bodyPr>
          <a:lstStyle/>
          <a:p>
            <a:r>
              <a:rPr lang="en-US" b="1" dirty="0"/>
              <a:t>Usage Trends – The "Weekly Pulse“ cont..</a:t>
            </a:r>
            <a:br>
              <a:rPr lang="en-US" b="1" dirty="0"/>
            </a:br>
            <a:endParaRPr lang="en-US" dirty="0"/>
          </a:p>
        </p:txBody>
      </p:sp>
      <p:sp>
        <p:nvSpPr>
          <p:cNvPr id="3" name="Content Placeholder 2">
            <a:extLst>
              <a:ext uri="{FF2B5EF4-FFF2-40B4-BE49-F238E27FC236}">
                <a16:creationId xmlns:a16="http://schemas.microsoft.com/office/drawing/2014/main" id="{30E688AD-994F-D01E-CF58-899517D55334}"/>
              </a:ext>
            </a:extLst>
          </p:cNvPr>
          <p:cNvSpPr>
            <a:spLocks noGrp="1"/>
          </p:cNvSpPr>
          <p:nvPr>
            <p:ph idx="1"/>
          </p:nvPr>
        </p:nvSpPr>
        <p:spPr>
          <a:xfrm>
            <a:off x="457200" y="1600200"/>
            <a:ext cx="8534400" cy="4525963"/>
          </a:xfrm>
        </p:spPr>
        <p:txBody>
          <a:bodyPr>
            <a:normAutofit/>
          </a:bodyPr>
          <a:lstStyle/>
          <a:p>
            <a:r>
              <a:rPr lang="en-US" sz="1800" dirty="0"/>
              <a:t>The Saturday Peak: Saturday is not only the day with the most sessions (1,655) but also has the highest engagement quality, with the average session lasting 650 seconds (nearly 11 minutes).</a:t>
            </a:r>
          </a:p>
          <a:p>
            <a:r>
              <a:rPr lang="en-US" sz="1800" dirty="0"/>
              <a:t>The Monday Valley: Monday represents the lowest point of the week across all metrics. </a:t>
            </a:r>
          </a:p>
          <a:p>
            <a:r>
              <a:rPr lang="en-US" sz="1800" dirty="0"/>
              <a:t>Total consumption is 60% lower than on Saturday, and sessions are roughly 33% shorter.</a:t>
            </a:r>
          </a:p>
          <a:p>
            <a:r>
              <a:rPr lang="en-US" sz="1800" dirty="0"/>
              <a:t>Mid-Week Momentum: Consumption levels jump significantly on Tuesday and remain steady through Friday, suggesting that </a:t>
            </a:r>
            <a:r>
              <a:rPr lang="en-US" sz="1800" dirty="0" err="1"/>
              <a:t>BrightTV</a:t>
            </a:r>
            <a:r>
              <a:rPr lang="en-US" sz="1800" dirty="0"/>
              <a:t> is part of a daily routine for users during the work/school week.</a:t>
            </a:r>
          </a:p>
          <a:p>
            <a:r>
              <a:rPr lang="en-US" sz="1800" dirty="0"/>
              <a:t>Thursday Quality: Interestingly, while it has fewer sessions than Wednesday or Friday, it has a higher average session duration (569.6s), indicating that users who do tune in on Thursdays are more "locked-in" to the content.</a:t>
            </a:r>
          </a:p>
        </p:txBody>
      </p:sp>
    </p:spTree>
    <p:extLst>
      <p:ext uri="{BB962C8B-B14F-4D97-AF65-F5344CB8AC3E}">
        <p14:creationId xmlns:p14="http://schemas.microsoft.com/office/powerpoint/2010/main" val="1560384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1145D-F5B0-6FA0-BB5D-49D33D191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2552F-F922-32DA-DF4A-86CBB0EF26B7}"/>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Channel Consumption by gender</a:t>
            </a:r>
            <a:endParaRPr lang="en-US" dirty="0"/>
          </a:p>
        </p:txBody>
      </p:sp>
      <p:sp>
        <p:nvSpPr>
          <p:cNvPr id="3" name="Content Placeholder 2">
            <a:extLst>
              <a:ext uri="{FF2B5EF4-FFF2-40B4-BE49-F238E27FC236}">
                <a16:creationId xmlns:a16="http://schemas.microsoft.com/office/drawing/2014/main" id="{8E645816-39F2-93A1-C2DA-708C577F686A}"/>
              </a:ext>
            </a:extLst>
          </p:cNvPr>
          <p:cNvSpPr>
            <a:spLocks noGrp="1"/>
          </p:cNvSpPr>
          <p:nvPr>
            <p:ph idx="1"/>
          </p:nvPr>
        </p:nvSpPr>
        <p:spPr>
          <a:xfrm>
            <a:off x="76200" y="1366837"/>
            <a:ext cx="3581400" cy="5081587"/>
          </a:xfrm>
        </p:spPr>
        <p:txBody>
          <a:bodyPr>
            <a:normAutofit/>
          </a:bodyPr>
          <a:lstStyle/>
          <a:p>
            <a:r>
              <a:rPr lang="en-US" sz="1800" dirty="0"/>
              <a:t>Males are dominating the views in all categories of channels on offering.</a:t>
            </a:r>
          </a:p>
          <a:p>
            <a:r>
              <a:rPr lang="en-US" sz="1800" dirty="0"/>
              <a:t>Sports channels are leading the pack with cricket ICC as an outlier, followed by  Super sport channel</a:t>
            </a:r>
          </a:p>
          <a:p>
            <a:endParaRPr lang="en-US" sz="1800" dirty="0"/>
          </a:p>
          <a:p>
            <a:r>
              <a:rPr lang="en-US" sz="1800" dirty="0"/>
              <a:t>Entertainment channels such channel O and reality  </a:t>
            </a:r>
            <a:r>
              <a:rPr lang="en-US" sz="1800" dirty="0" err="1"/>
              <a:t>TraceTV</a:t>
            </a:r>
            <a:r>
              <a:rPr lang="en-US" sz="1800" dirty="0"/>
              <a:t> has a significant viewership as well.</a:t>
            </a:r>
          </a:p>
        </p:txBody>
      </p:sp>
      <p:graphicFrame>
        <p:nvGraphicFramePr>
          <p:cNvPr id="4" name="Chart 3">
            <a:extLst>
              <a:ext uri="{FF2B5EF4-FFF2-40B4-BE49-F238E27FC236}">
                <a16:creationId xmlns:a16="http://schemas.microsoft.com/office/drawing/2014/main" id="{08354DC8-FB3F-4F13-8F7C-B137C4AEC626}"/>
              </a:ext>
            </a:extLst>
          </p:cNvPr>
          <p:cNvGraphicFramePr>
            <a:graphicFrameLocks/>
          </p:cNvGraphicFramePr>
          <p:nvPr>
            <p:extLst>
              <p:ext uri="{D42A27DB-BD31-4B8C-83A1-F6EECF244321}">
                <p14:modId xmlns:p14="http://schemas.microsoft.com/office/powerpoint/2010/main" val="356436116"/>
              </p:ext>
            </p:extLst>
          </p:nvPr>
        </p:nvGraphicFramePr>
        <p:xfrm>
          <a:off x="3505200" y="1366838"/>
          <a:ext cx="5562600" cy="53011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57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80D11-1BFA-ED97-20EF-5201078F4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DE55D-49DD-966F-2C81-7F385E48C0E5}"/>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Channel Consumption by Race</a:t>
            </a:r>
            <a:endParaRPr lang="en-US" dirty="0"/>
          </a:p>
        </p:txBody>
      </p:sp>
      <p:sp>
        <p:nvSpPr>
          <p:cNvPr id="3" name="Content Placeholder 2">
            <a:extLst>
              <a:ext uri="{FF2B5EF4-FFF2-40B4-BE49-F238E27FC236}">
                <a16:creationId xmlns:a16="http://schemas.microsoft.com/office/drawing/2014/main" id="{A6E833C2-E0E8-9351-8E2A-A9243B543EDE}"/>
              </a:ext>
            </a:extLst>
          </p:cNvPr>
          <p:cNvSpPr>
            <a:spLocks noGrp="1"/>
          </p:cNvSpPr>
          <p:nvPr>
            <p:ph idx="1"/>
          </p:nvPr>
        </p:nvSpPr>
        <p:spPr>
          <a:xfrm>
            <a:off x="76200" y="1366837"/>
            <a:ext cx="3581400" cy="5081587"/>
          </a:xfrm>
        </p:spPr>
        <p:txBody>
          <a:bodyPr>
            <a:normAutofit/>
          </a:bodyPr>
          <a:lstStyle/>
          <a:p>
            <a:r>
              <a:rPr lang="en-US" sz="1800" dirty="0"/>
              <a:t>The black cohort shows most viewership at night -time, and very less in other timeslots of the day.  </a:t>
            </a:r>
          </a:p>
          <a:p>
            <a:r>
              <a:rPr lang="en-US" sz="1800" dirty="0"/>
              <a:t>In the contrary all </a:t>
            </a:r>
            <a:r>
              <a:rPr lang="en-US" sz="1800" dirty="0" err="1"/>
              <a:t>orthers</a:t>
            </a:r>
            <a:r>
              <a:rPr lang="en-US" sz="1800" dirty="0"/>
              <a:t> races has a fair distribution across all other time slots of the day with </a:t>
            </a:r>
            <a:r>
              <a:rPr lang="en-US" sz="1800" dirty="0" err="1"/>
              <a:t>Inidian</a:t>
            </a:r>
            <a:r>
              <a:rPr lang="en-US" sz="1800" dirty="0"/>
              <a:t>/ Asian leading on the morning and after.</a:t>
            </a:r>
          </a:p>
          <a:p>
            <a:endParaRPr lang="en-US" sz="1800" dirty="0"/>
          </a:p>
          <a:p>
            <a:r>
              <a:rPr lang="en-US" sz="1800" dirty="0"/>
              <a:t>There is a similar pattern between whites and </a:t>
            </a:r>
            <a:r>
              <a:rPr lang="en-US" sz="1800" dirty="0" err="1"/>
              <a:t>coloureds</a:t>
            </a:r>
            <a:endParaRPr lang="en-US" sz="1800" dirty="0"/>
          </a:p>
        </p:txBody>
      </p:sp>
      <p:graphicFrame>
        <p:nvGraphicFramePr>
          <p:cNvPr id="5" name="Chart 4">
            <a:extLst>
              <a:ext uri="{FF2B5EF4-FFF2-40B4-BE49-F238E27FC236}">
                <a16:creationId xmlns:a16="http://schemas.microsoft.com/office/drawing/2014/main" id="{569FFBDE-AA2D-9C9A-2B21-52033C7D5097}"/>
              </a:ext>
            </a:extLst>
          </p:cNvPr>
          <p:cNvGraphicFramePr>
            <a:graphicFrameLocks/>
          </p:cNvGraphicFramePr>
          <p:nvPr>
            <p:extLst>
              <p:ext uri="{D42A27DB-BD31-4B8C-83A1-F6EECF244321}">
                <p14:modId xmlns:p14="http://schemas.microsoft.com/office/powerpoint/2010/main" val="1749119367"/>
              </p:ext>
            </p:extLst>
          </p:nvPr>
        </p:nvGraphicFramePr>
        <p:xfrm>
          <a:off x="3505200" y="1447800"/>
          <a:ext cx="5219700" cy="4343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5419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5CEA-E6E2-69AB-A624-E7B63342C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F3DE7-194E-B89F-168A-F1BF4F6AB553}"/>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Channel Consumption by Region</a:t>
            </a:r>
            <a:endParaRPr lang="en-US" dirty="0"/>
          </a:p>
        </p:txBody>
      </p:sp>
      <p:sp>
        <p:nvSpPr>
          <p:cNvPr id="3" name="Content Placeholder 2">
            <a:extLst>
              <a:ext uri="{FF2B5EF4-FFF2-40B4-BE49-F238E27FC236}">
                <a16:creationId xmlns:a16="http://schemas.microsoft.com/office/drawing/2014/main" id="{5B44E2B6-50CF-7DC9-4E8D-D42F9DD9108B}"/>
              </a:ext>
            </a:extLst>
          </p:cNvPr>
          <p:cNvSpPr>
            <a:spLocks noGrp="1"/>
          </p:cNvSpPr>
          <p:nvPr>
            <p:ph idx="1"/>
          </p:nvPr>
        </p:nvSpPr>
        <p:spPr>
          <a:xfrm>
            <a:off x="76200" y="4876800"/>
            <a:ext cx="8763000" cy="1571624"/>
          </a:xfrm>
        </p:spPr>
        <p:txBody>
          <a:bodyPr>
            <a:normAutofit/>
          </a:bodyPr>
          <a:lstStyle/>
          <a:p>
            <a:r>
              <a:rPr lang="en-US" sz="1800" dirty="0"/>
              <a:t>As expected Gauteng is leading in viewership, with western cape on the second spot. Gauteng viewers are most in the morning afternoon and the pattern is consistent thought other regions proportional to the population in the regions.  The three provinces northwest, free state and northern cape areas  have almost similar statistics which is below the eastern cape. </a:t>
            </a:r>
          </a:p>
        </p:txBody>
      </p:sp>
      <p:graphicFrame>
        <p:nvGraphicFramePr>
          <p:cNvPr id="4" name="Chart 3">
            <a:extLst>
              <a:ext uri="{FF2B5EF4-FFF2-40B4-BE49-F238E27FC236}">
                <a16:creationId xmlns:a16="http://schemas.microsoft.com/office/drawing/2014/main" id="{46A43505-6E89-4E4C-95DE-81597904AF8A}"/>
              </a:ext>
            </a:extLst>
          </p:cNvPr>
          <p:cNvGraphicFramePr>
            <a:graphicFrameLocks/>
          </p:cNvGraphicFramePr>
          <p:nvPr>
            <p:extLst>
              <p:ext uri="{D42A27DB-BD31-4B8C-83A1-F6EECF244321}">
                <p14:modId xmlns:p14="http://schemas.microsoft.com/office/powerpoint/2010/main" val="1762405836"/>
              </p:ext>
            </p:extLst>
          </p:nvPr>
        </p:nvGraphicFramePr>
        <p:xfrm>
          <a:off x="152400" y="1295400"/>
          <a:ext cx="8915400" cy="3429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34559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1FB25-CF79-E405-6768-F91F82C70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FBFDA-DC42-1D13-5055-2A89F668BAEC}"/>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Daily Engagements </a:t>
            </a:r>
            <a:endParaRPr lang="en-US" dirty="0"/>
          </a:p>
        </p:txBody>
      </p:sp>
      <p:sp>
        <p:nvSpPr>
          <p:cNvPr id="3" name="Content Placeholder 2">
            <a:extLst>
              <a:ext uri="{FF2B5EF4-FFF2-40B4-BE49-F238E27FC236}">
                <a16:creationId xmlns:a16="http://schemas.microsoft.com/office/drawing/2014/main" id="{44520CA2-A599-2787-87AC-E4D93569ACD6}"/>
              </a:ext>
            </a:extLst>
          </p:cNvPr>
          <p:cNvSpPr>
            <a:spLocks noGrp="1"/>
          </p:cNvSpPr>
          <p:nvPr>
            <p:ph idx="1"/>
          </p:nvPr>
        </p:nvSpPr>
        <p:spPr>
          <a:xfrm>
            <a:off x="228600" y="5049309"/>
            <a:ext cx="8534400" cy="1351491"/>
          </a:xfrm>
        </p:spPr>
        <p:txBody>
          <a:bodyPr>
            <a:normAutofit lnSpcReduction="10000"/>
          </a:bodyPr>
          <a:lstStyle/>
          <a:p>
            <a:r>
              <a:rPr lang="en-US" sz="1800" dirty="0"/>
              <a:t>The engagement picks up from Monday with slight withdrawal mid week on Thursday and peaks up on Saturday in all time slots.  There is a slight dip on Sunday across all time slots.  As expected, and understandably so the nighttime fetches low engagement and afternoon is the peak throughout the week </a:t>
            </a:r>
          </a:p>
        </p:txBody>
      </p:sp>
      <p:graphicFrame>
        <p:nvGraphicFramePr>
          <p:cNvPr id="5" name="Chart 4">
            <a:extLst>
              <a:ext uri="{FF2B5EF4-FFF2-40B4-BE49-F238E27FC236}">
                <a16:creationId xmlns:a16="http://schemas.microsoft.com/office/drawing/2014/main" id="{E882525E-B431-4E56-A429-43F625AE34E2}"/>
              </a:ext>
            </a:extLst>
          </p:cNvPr>
          <p:cNvGraphicFramePr>
            <a:graphicFrameLocks/>
          </p:cNvGraphicFramePr>
          <p:nvPr>
            <p:extLst>
              <p:ext uri="{D42A27DB-BD31-4B8C-83A1-F6EECF244321}">
                <p14:modId xmlns:p14="http://schemas.microsoft.com/office/powerpoint/2010/main" val="90914871"/>
              </p:ext>
            </p:extLst>
          </p:nvPr>
        </p:nvGraphicFramePr>
        <p:xfrm>
          <a:off x="33867" y="1442084"/>
          <a:ext cx="8957733" cy="343471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3938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3741-9431-2465-FADA-A300E2F6D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E7909-8540-14C4-5188-30AC08B3BC62}"/>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Factors influencing Consumption</a:t>
            </a:r>
            <a:endParaRPr lang="en-US" dirty="0"/>
          </a:p>
        </p:txBody>
      </p:sp>
      <p:sp>
        <p:nvSpPr>
          <p:cNvPr id="3" name="Content Placeholder 2">
            <a:extLst>
              <a:ext uri="{FF2B5EF4-FFF2-40B4-BE49-F238E27FC236}">
                <a16:creationId xmlns:a16="http://schemas.microsoft.com/office/drawing/2014/main" id="{1DB6ED21-EF58-BC5C-1929-1E694BEDEF9F}"/>
              </a:ext>
            </a:extLst>
          </p:cNvPr>
          <p:cNvSpPr>
            <a:spLocks noGrp="1"/>
          </p:cNvSpPr>
          <p:nvPr>
            <p:ph idx="1"/>
          </p:nvPr>
        </p:nvSpPr>
        <p:spPr>
          <a:xfrm>
            <a:off x="76200" y="1371600"/>
            <a:ext cx="4038600" cy="5029201"/>
          </a:xfrm>
        </p:spPr>
        <p:txBody>
          <a:bodyPr>
            <a:normAutofit/>
          </a:bodyPr>
          <a:lstStyle/>
          <a:p>
            <a:r>
              <a:rPr lang="en-US" sz="1800" b="1" dirty="0"/>
              <a:t>Temporal Accessibility:</a:t>
            </a:r>
            <a:r>
              <a:rPr lang="en-US" sz="1800" dirty="0"/>
              <a:t> The 18:00–21:00 window acts as the primary driver for "Mature Adults."</a:t>
            </a:r>
          </a:p>
          <a:p>
            <a:r>
              <a:rPr lang="en-US" sz="1800" b="1" dirty="0"/>
              <a:t>Demographic Life-Stages:</a:t>
            </a:r>
            <a:r>
              <a:rPr lang="en-US" sz="1800" dirty="0"/>
              <a:t> "Youth" users are influenced by quick-access content (Short </a:t>
            </a:r>
            <a:r>
              <a:rPr lang="en-US" sz="1800" dirty="0" err="1"/>
              <a:t>ViewTypes</a:t>
            </a:r>
            <a:r>
              <a:rPr lang="en-US" sz="1800" dirty="0"/>
              <a:t>), while "Kids" viewing is strictly bound to Morning/Afternoon slots.</a:t>
            </a:r>
          </a:p>
          <a:p>
            <a:r>
              <a:rPr lang="en-US" sz="1800" b="1" dirty="0"/>
              <a:t>Anchor Content:</a:t>
            </a:r>
            <a:r>
              <a:rPr lang="en-US" sz="1800" dirty="0"/>
              <a:t> Popularity is concentrated in "Hero Channels" like </a:t>
            </a:r>
            <a:r>
              <a:rPr lang="en-US" sz="1800" b="1" dirty="0"/>
              <a:t>Channel O</a:t>
            </a:r>
            <a:r>
              <a:rPr lang="en-US" sz="1800" dirty="0"/>
              <a:t> and </a:t>
            </a:r>
            <a:r>
              <a:rPr lang="en-US" sz="1800" b="1" dirty="0"/>
              <a:t>Cartoon Network</a:t>
            </a:r>
            <a:r>
              <a:rPr lang="en-US" sz="1800" dirty="0"/>
              <a:t>, which act as </a:t>
            </a:r>
            <a:r>
              <a:rPr lang="en-US" sz="2000" dirty="0"/>
              <a:t>gateways</a:t>
            </a:r>
            <a:r>
              <a:rPr lang="en-US" sz="1800" dirty="0"/>
              <a:t> to the rest of the platform</a:t>
            </a:r>
          </a:p>
          <a:p>
            <a:endParaRPr lang="en-US" sz="1800" dirty="0"/>
          </a:p>
        </p:txBody>
      </p:sp>
      <p:graphicFrame>
        <p:nvGraphicFramePr>
          <p:cNvPr id="4" name="Chart 3">
            <a:extLst>
              <a:ext uri="{FF2B5EF4-FFF2-40B4-BE49-F238E27FC236}">
                <a16:creationId xmlns:a16="http://schemas.microsoft.com/office/drawing/2014/main" id="{011046CC-4C20-D1AC-7ACE-E257D0652707}"/>
              </a:ext>
            </a:extLst>
          </p:cNvPr>
          <p:cNvGraphicFramePr>
            <a:graphicFrameLocks/>
          </p:cNvGraphicFramePr>
          <p:nvPr>
            <p:extLst>
              <p:ext uri="{D42A27DB-BD31-4B8C-83A1-F6EECF244321}">
                <p14:modId xmlns:p14="http://schemas.microsoft.com/office/powerpoint/2010/main" val="2953478121"/>
              </p:ext>
            </p:extLst>
          </p:nvPr>
        </p:nvGraphicFramePr>
        <p:xfrm>
          <a:off x="4206240" y="1485900"/>
          <a:ext cx="4861560" cy="533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9267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C9764-FDBA-E192-9918-EE99D5CEA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618D5-E278-421B-7F3B-953BB955FF04}"/>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Discussion and Recommendations</a:t>
            </a:r>
            <a:endParaRPr lang="en-US" dirty="0"/>
          </a:p>
        </p:txBody>
      </p:sp>
      <p:sp>
        <p:nvSpPr>
          <p:cNvPr id="3" name="Content Placeholder 2">
            <a:extLst>
              <a:ext uri="{FF2B5EF4-FFF2-40B4-BE49-F238E27FC236}">
                <a16:creationId xmlns:a16="http://schemas.microsoft.com/office/drawing/2014/main" id="{0EA6A5A6-010B-CB17-5EDE-8579E70E515B}"/>
              </a:ext>
            </a:extLst>
          </p:cNvPr>
          <p:cNvSpPr>
            <a:spLocks noGrp="1"/>
          </p:cNvSpPr>
          <p:nvPr>
            <p:ph idx="1"/>
          </p:nvPr>
        </p:nvSpPr>
        <p:spPr>
          <a:xfrm>
            <a:off x="76200" y="1371600"/>
            <a:ext cx="8915400" cy="5029201"/>
          </a:xfrm>
        </p:spPr>
        <p:txBody>
          <a:bodyPr>
            <a:normAutofit/>
          </a:bodyPr>
          <a:lstStyle/>
          <a:p>
            <a:r>
              <a:rPr lang="en-US" sz="1600" b="1" dirty="0"/>
              <a:t>The "Monday Gap" – Increasing Low-Consumption Days</a:t>
            </a:r>
          </a:p>
          <a:p>
            <a:r>
              <a:rPr lang="en-US" sz="1600" b="1" dirty="0"/>
              <a:t>The Problem:</a:t>
            </a:r>
            <a:r>
              <a:rPr lang="en-US" sz="1600" dirty="0"/>
              <a:t> Monday has 60% less consumption than Saturday.</a:t>
            </a:r>
          </a:p>
          <a:p>
            <a:r>
              <a:rPr lang="en-US" sz="1600" b="1" dirty="0"/>
              <a:t>Recommendation 1: "The Monday Brief":</a:t>
            </a:r>
            <a:r>
              <a:rPr lang="en-US" sz="1600" dirty="0"/>
              <a:t> Launch short-form news and sports highlights (</a:t>
            </a:r>
            <a:r>
              <a:rPr lang="en-US" sz="1600" dirty="0" err="1"/>
              <a:t>Supersport</a:t>
            </a:r>
            <a:r>
              <a:rPr lang="en-US" sz="1600" dirty="0"/>
              <a:t>/CNN) specifically curated for time-poor commuters.</a:t>
            </a:r>
          </a:p>
          <a:p>
            <a:r>
              <a:rPr lang="en-US" sz="1600" b="1" dirty="0"/>
              <a:t>Recommendation 2: Sunday "Binge" Programming:</a:t>
            </a:r>
            <a:r>
              <a:rPr lang="en-US" sz="1600" dirty="0"/>
              <a:t> To prevent the Sunday evening drop-off, schedule family-oriented movies to transition users into the new week.</a:t>
            </a:r>
          </a:p>
          <a:p>
            <a:r>
              <a:rPr lang="en-US" sz="1600" b="1" dirty="0"/>
              <a:t>Growing the User Base – Strategic Initiatives</a:t>
            </a:r>
          </a:p>
          <a:p>
            <a:r>
              <a:rPr lang="en-US" sz="1600" b="1" dirty="0"/>
              <a:t>Initiative 1: The "Silver Surfer" Outreach:</a:t>
            </a:r>
            <a:r>
              <a:rPr lang="en-US" sz="1600" dirty="0"/>
              <a:t> Targeted marketing for </a:t>
            </a:r>
            <a:r>
              <a:rPr lang="en-US" sz="1600" b="1" dirty="0"/>
              <a:t>Seniors</a:t>
            </a:r>
            <a:r>
              <a:rPr lang="en-US" sz="1600" dirty="0"/>
              <a:t> (Seniors watch for long periods but have the lowest count). Content should focus on nostalgia and news.</a:t>
            </a:r>
          </a:p>
          <a:p>
            <a:r>
              <a:rPr lang="en-US" sz="1600" b="1" dirty="0"/>
              <a:t>Initiative 2: Provincial Diversification:</a:t>
            </a:r>
            <a:r>
              <a:rPr lang="en-US" sz="1600" dirty="0"/>
              <a:t> Launch localized content in the </a:t>
            </a:r>
            <a:r>
              <a:rPr lang="en-US" sz="1600" b="1" dirty="0"/>
              <a:t>Northern Cape</a:t>
            </a:r>
            <a:r>
              <a:rPr lang="en-US" sz="1600" dirty="0"/>
              <a:t> and </a:t>
            </a:r>
            <a:r>
              <a:rPr lang="en-US" sz="1600" b="1" dirty="0"/>
              <a:t>North West</a:t>
            </a:r>
            <a:r>
              <a:rPr lang="en-US" sz="1600" dirty="0"/>
              <a:t> to tap into the 90% untapped potential in those regions.</a:t>
            </a:r>
          </a:p>
          <a:p>
            <a:r>
              <a:rPr lang="en-US" sz="1600" b="1" dirty="0"/>
              <a:t>Initiative 3: Gamified Retention:</a:t>
            </a:r>
            <a:r>
              <a:rPr lang="en-US" sz="1600" dirty="0"/>
              <a:t> Introduce "viewing streaks" for the Youth demographic to convert their "Short" views into consistent daily habits</a:t>
            </a:r>
          </a:p>
          <a:p>
            <a:r>
              <a:rPr lang="en-ZA" sz="1600" b="1" dirty="0"/>
              <a:t>Initiative 3:</a:t>
            </a:r>
          </a:p>
          <a:p>
            <a:pPr lvl="1"/>
            <a:r>
              <a:rPr lang="en-ZA" sz="1400" b="1" dirty="0"/>
              <a:t>Youth (18-24):</a:t>
            </a:r>
            <a:r>
              <a:rPr lang="en-ZA" sz="1400" dirty="0"/>
              <a:t> High-energy, short-form clips (Music/Trends).</a:t>
            </a:r>
          </a:p>
          <a:p>
            <a:pPr lvl="1"/>
            <a:r>
              <a:rPr lang="en-ZA" sz="1400" b="1" dirty="0"/>
              <a:t>Mature Adults (35-50):</a:t>
            </a:r>
            <a:r>
              <a:rPr lang="en-ZA" sz="1400" dirty="0"/>
              <a:t> Long-form documentaries and dramas (</a:t>
            </a:r>
            <a:r>
              <a:rPr lang="en-ZA" sz="1400" dirty="0" err="1"/>
              <a:t>AfricaMagic</a:t>
            </a:r>
            <a:r>
              <a:rPr lang="en-ZA" sz="1400" dirty="0"/>
              <a:t>).</a:t>
            </a:r>
          </a:p>
          <a:p>
            <a:pPr lvl="1"/>
            <a:r>
              <a:rPr lang="en-ZA" sz="1400" b="1" dirty="0"/>
              <a:t>Morning Peaks:</a:t>
            </a:r>
            <a:r>
              <a:rPr lang="en-ZA" sz="1400" dirty="0"/>
              <a:t> Targeted lifestyle and educational content for the 08:00–11:00 window to capture the Indian/Asian demographic surge</a:t>
            </a:r>
            <a:r>
              <a:rPr lang="en-ZA" sz="1200" dirty="0"/>
              <a:t>.</a:t>
            </a:r>
          </a:p>
          <a:p>
            <a:endParaRPr lang="en-US" sz="1600" dirty="0"/>
          </a:p>
          <a:p>
            <a:endParaRPr lang="en-US" sz="1600" dirty="0"/>
          </a:p>
        </p:txBody>
      </p:sp>
    </p:spTree>
    <p:extLst>
      <p:ext uri="{BB962C8B-B14F-4D97-AF65-F5344CB8AC3E}">
        <p14:creationId xmlns:p14="http://schemas.microsoft.com/office/powerpoint/2010/main" val="2603964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8281-3C9C-81E1-346D-2B8862523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0103E-571E-84E3-0255-2D9946755D45}"/>
              </a:ext>
            </a:extLst>
          </p:cNvPr>
          <p:cNvSpPr>
            <a:spLocks noGrp="1"/>
          </p:cNvSpPr>
          <p:nvPr>
            <p:ph type="title"/>
          </p:nvPr>
        </p:nvSpPr>
        <p:spPr>
          <a:xfrm>
            <a:off x="457200" y="198438"/>
            <a:ext cx="8229600" cy="868362"/>
          </a:xfrm>
        </p:spPr>
        <p:txBody>
          <a:bodyPr>
            <a:normAutofit fontScale="90000"/>
          </a:bodyPr>
          <a:lstStyle/>
          <a:p>
            <a:br>
              <a:rPr lang="en-US" b="1" dirty="0"/>
            </a:br>
            <a:r>
              <a:rPr lang="en-US" b="1" dirty="0"/>
              <a:t>Conclusion Statement</a:t>
            </a:r>
            <a:endParaRPr lang="en-US" dirty="0"/>
          </a:p>
        </p:txBody>
      </p:sp>
      <p:sp>
        <p:nvSpPr>
          <p:cNvPr id="3" name="Content Placeholder 2">
            <a:extLst>
              <a:ext uri="{FF2B5EF4-FFF2-40B4-BE49-F238E27FC236}">
                <a16:creationId xmlns:a16="http://schemas.microsoft.com/office/drawing/2014/main" id="{8B42C0C6-3D6D-2A25-CDB8-4DAB62079D57}"/>
              </a:ext>
            </a:extLst>
          </p:cNvPr>
          <p:cNvSpPr>
            <a:spLocks noGrp="1"/>
          </p:cNvSpPr>
          <p:nvPr>
            <p:ph idx="1"/>
          </p:nvPr>
        </p:nvSpPr>
        <p:spPr>
          <a:xfrm>
            <a:off x="76200" y="1371600"/>
            <a:ext cx="8382000" cy="5029201"/>
          </a:xfrm>
        </p:spPr>
        <p:txBody>
          <a:bodyPr>
            <a:normAutofit/>
          </a:bodyPr>
          <a:lstStyle/>
          <a:p>
            <a:r>
              <a:rPr lang="en-US" sz="1800" dirty="0"/>
              <a:t>There is a high data volume generated but has fragmented engagement across 9 provinces.</a:t>
            </a:r>
          </a:p>
          <a:p>
            <a:r>
              <a:rPr lang="en-US" sz="1800" dirty="0"/>
              <a:t>The current scheduling relies on "Prime Time" assumptions that ignore regional morning peaks and the Monday consumption valley.</a:t>
            </a:r>
          </a:p>
          <a:p>
            <a:r>
              <a:rPr lang="en-US" sz="1800" dirty="0" err="1"/>
              <a:t>BrightTV</a:t>
            </a:r>
            <a:r>
              <a:rPr lang="en-US" sz="1800" dirty="0"/>
              <a:t> has a strong Gauteng-based Young Adult foundation which needs to be exploited through amongst others.</a:t>
            </a:r>
          </a:p>
          <a:p>
            <a:endParaRPr lang="en-US" sz="1800" dirty="0"/>
          </a:p>
          <a:p>
            <a:pPr lvl="1"/>
            <a:r>
              <a:rPr lang="en-US" sz="1600" dirty="0"/>
              <a:t>Deploy "Monday Highlights" content.</a:t>
            </a:r>
          </a:p>
          <a:p>
            <a:pPr lvl="1"/>
            <a:r>
              <a:rPr lang="en-US" sz="1600" dirty="0"/>
              <a:t>Conduct targeted Senior-citizenship marketing campaign.</a:t>
            </a:r>
          </a:p>
          <a:p>
            <a:pPr lvl="1"/>
            <a:r>
              <a:rPr lang="en-US" sz="1600" dirty="0"/>
              <a:t>Explore the "Long-form" content for the Saturday peak to see if it can fetch figures above 1.1M seconds.</a:t>
            </a:r>
          </a:p>
          <a:p>
            <a:endParaRPr lang="en-US" sz="1800" dirty="0"/>
          </a:p>
        </p:txBody>
      </p:sp>
    </p:spTree>
    <p:extLst>
      <p:ext uri="{BB962C8B-B14F-4D97-AF65-F5344CB8AC3E}">
        <p14:creationId xmlns:p14="http://schemas.microsoft.com/office/powerpoint/2010/main" val="320554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3F6D86"/>
      </a:accent1>
      <a:accent2>
        <a:srgbClr val="6699CC"/>
      </a:accent2>
      <a:accent3>
        <a:srgbClr val="9999CC"/>
      </a:accent3>
      <a:accent4>
        <a:srgbClr val="99CCCC"/>
      </a:accent4>
      <a:accent5>
        <a:srgbClr val="3366CC"/>
      </a:accent5>
      <a:accent6>
        <a:srgbClr val="66663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44160afe-d2f8-4cbd-b9d1-5135fc7b07d9}" enabled="0" method="" siteId="{44160afe-d2f8-4cbd-b9d1-5135fc7b07d9}" removed="1"/>
</clbl:labelList>
</file>

<file path=docProps/app.xml><?xml version="1.0" encoding="utf-8"?>
<Properties xmlns="http://schemas.openxmlformats.org/officeDocument/2006/extended-properties" xmlns:vt="http://schemas.openxmlformats.org/officeDocument/2006/docPropsVTypes">
  <TotalTime>117</TotalTime>
  <Words>1006</Words>
  <Application>Microsoft Office PowerPoint</Application>
  <PresentationFormat>On-screen Show (4:3)</PresentationFormat>
  <Paragraphs>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Microsoft Sans Serif</vt:lpstr>
      <vt:lpstr>Office Theme</vt:lpstr>
      <vt:lpstr> Bright TV Audience Engagement &amp; Growth Strategy </vt:lpstr>
      <vt:lpstr>Executive Summary </vt:lpstr>
      <vt:lpstr> Who is watching: Consumption by age cohort </vt:lpstr>
      <vt:lpstr>Usage Trends – The "Weekly Pulse" </vt:lpstr>
      <vt:lpstr>Usage Trends – The "Weekly Pulse“ cont.. </vt:lpstr>
      <vt:lpstr> Channel Consumption by gender</vt:lpstr>
      <vt:lpstr> Channel Consumption by Race</vt:lpstr>
      <vt:lpstr> Channel Consumption by Region</vt:lpstr>
      <vt:lpstr> Daily Engagements </vt:lpstr>
      <vt:lpstr> Factors influencing Consumption</vt:lpstr>
      <vt:lpstr> Discussion and Recommendations</vt:lpstr>
      <vt:lpstr> Conclusion Statement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Company</dc:creator>
  <cp:lastModifiedBy>Kometsi Khotlele</cp:lastModifiedBy>
  <cp:revision>12</cp:revision>
  <dcterms:created xsi:type="dcterms:W3CDTF">2013-12-25T12:45:28Z</dcterms:created>
  <dcterms:modified xsi:type="dcterms:W3CDTF">2026-04-19T19:05:25Z</dcterms:modified>
</cp:coreProperties>
</file>